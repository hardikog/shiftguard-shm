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2"/>
  </p:notesMasterIdLst>
  <p:sldIdLst>
    <p:sldId id="256" r:id="rId2"/>
    <p:sldId id="311" r:id="rId19"/>
    <p:sldId id="315" r:id="rId23"/>
    <p:sldId id="266" r:id="rId7"/>
    <p:sldId id="279" r:id="rId8"/>
    <p:sldId id="316" r:id="rId24"/>
    <p:sldId id="308" r:id="rId9"/>
    <p:sldId id="317" r:id="rId25"/>
    <p:sldId id="318" r:id="rId26"/>
    <p:sldId id="30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D5FC79"/>
    <a:srgbClr val="73FEFF"/>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669"/>
  </p:normalViewPr>
  <p:slideViewPr>
    <p:cSldViewPr snapToGrid="0" snapToObjects="1" showGuides="1">
      <p:cViewPr varScale="1">
        <p:scale>
          <a:sx n="58" d="100"/>
          <a:sy n="58" d="100"/>
        </p:scale>
        <p:origin x="928" y="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9"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6.xml"/><Relationship Id="rId25" Type="http://schemas.openxmlformats.org/officeDocument/2006/relationships/slide" Target="slides/slide8.xml"/><Relationship Id="rId2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3DA0E-D1FD-BC4E-848A-CADAF0C17C7F}"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DB9C3-3AFD-454D-9BAE-9D714207E35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r>
              <a:t>We are building a system that watches a bridge 24/7 with IoT sensors and AI, and when something looks wrong it tells you WHAT is wrong: real damage, unusual weather, or just a broken sensor.</a:t>
            </a:r>
          </a:p>
        </p:txBody>
      </p:sp>
      <p:sp>
        <p:nvSpPr>
          <p:cNvPr id="4" name="Slide Number Placeholder 3"/>
          <p:cNvSpPr>
            <a:spLocks noGrp="1"/>
          </p:cNvSpPr>
          <p:nvPr>
            <p:ph type="sldNum" sz="quarter" idx="10"/>
          </p:nvPr>
        </p:nvSpPr>
        <p:spPr/>
        <p:txBody>
          <a:bodyPr/>
          <a:lstStyle/>
          <a:p>
            <a:fld id="{84FDB9C3-3AFD-454D-9BAE-9D714207E35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a 5 % error looks small, but over a whole year of hourly checks it becomes hundreds of false alarms. And the old system could not say WHY it raised an alarm. Cold weather and broken sensors look like damage to a simple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it as a team of sensors cross-checking each other. If one sensor says something the others don't agree with, that sensor is the problem. If a whole area of the bridge changes together, the structure changed. And instead of panicking at one strange reading, we wait until the evidence adds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top to bottom: sensors → features → the cross-checking model → fair comparison with healthy hours at the same temperature → evidence collectors → one of three verdicts → dashboard and email.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is conformal prediction?': it turns any score into a probability-like p-value by ranking it against scores from healthy data, with no assumptions about the distribution. 'What is an e-detector?': it multiplies evidence from each hour; under no change its expected value stays at 1, which is what gives the false-alarm guarantee.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run 'python run_demo.py'. Break sensor S3 → it says 'broken sensor S3', not damage. Cold snap → 'unusual weather'. Damage → 'structural damage near S5 and S6'.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 numbers are the MLP model, averaged over 3 runs; Z24 numbers are the ridge model, 3 runs. Be upfront: on real Z24 data, moderate damage is not yet caught; that is our next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 weather, orange = broken sensor, red = damage. The grey ticks in the second row are the old method's alarms: they happen all year. ShiftGuard's lines only cross the dashed threshold during real events.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Saying the limitations ourselves makes the work more credible. The moderate-damage gap is a sensor-placement / feature issue on Z24's shared channels: the old method is no better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r>
              <a:rPr lang="en-US"/>
              <a:t>29 July 2026</a:t>
            </a:r>
          </a:p>
        </p:txBody>
      </p:sp>
      <p:sp>
        <p:nvSpPr>
          <p:cNvPr id="8" name="Footer Placeholder 7"/>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9" name="Slide Number Placeholder 8"/>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r>
              <a:rPr lang="en-US"/>
              <a:t>29 July 2026</a:t>
            </a:r>
          </a:p>
        </p:txBody>
      </p:sp>
      <p:sp>
        <p:nvSpPr>
          <p:cNvPr id="4" name="Footer Placeholder 3"/>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5" name="Slide Number Placeholder 4"/>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29 July 2026</a:t>
            </a:r>
          </a:p>
        </p:txBody>
      </p:sp>
      <p:sp>
        <p:nvSpPr>
          <p:cNvPr id="3" name="Footer Placeholder 2"/>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4" name="Slide Number Placeholder 3"/>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29 July 2026</a:t>
            </a:r>
          </a:p>
        </p:txBody>
      </p:sp>
      <p:sp>
        <p:nvSpPr>
          <p:cNvPr id="6" name="Footer Placeholder 5"/>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7" name="Slide Number Placeholder 6"/>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r>
              <a:rPr lang="en-US"/>
              <a:t>29 July 2026</a:t>
            </a:r>
          </a:p>
        </p:txBody>
      </p:sp>
      <p:sp>
        <p:nvSpPr>
          <p:cNvPr id="5" name="Footer Placeholder 4"/>
          <p:cNvSpPr>
            <a:spLocks noGrp="1"/>
          </p:cNvSpPr>
          <p:nvPr>
            <p:ph type="ftr" sz="quarter" idx="11"/>
          </p:nvPr>
        </p:nvSpPr>
        <p:spPr/>
        <p:txBody>
          <a:body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12"/>
          </p:nvPr>
        </p:nvSpPr>
        <p:spPr/>
        <p:txBody>
          <a:bodyPr/>
          <a:lstStyle/>
          <a:p>
            <a:fld id="{B6D3A235-9A1B-814A-A45F-231E0934496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29 July 2026</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Self-Evolving AI for Lifelong Multimedia Forensics using Continual Learning and Knowledge Graphs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3A235-9A1B-814A-A45F-231E0934496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p:cNvSpPr>
            <a:spLocks noGrp="1" noRot="1" noChangeAspect="1" noMove="1" noResize="1" noEditPoints="1" noAdjustHandles="1" noChangeArrowheads="1" noChangeShapeType="1" noTextEdit="1"/>
          </p:cNvSpPr>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圖片 9" descr="Logo, company name&#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5438" y="461286"/>
            <a:ext cx="5748242" cy="2967714"/>
          </a:xfrm>
          <a:prstGeom prst="rect">
            <a:avLst/>
          </a:prstGeom>
        </p:spPr>
      </p:pic>
      <p:pic>
        <p:nvPicPr>
          <p:cNvPr id="5" name="Picture 4" descr="Text&#10;&#10;Description automatically generated with low confidence"/>
          <p:cNvPicPr>
            <a:picLocks noChangeAspect="1"/>
          </p:cNvPicPr>
          <p:nvPr/>
        </p:nvPicPr>
        <p:blipFill>
          <a:blip r:embed="rId4" cstate="print"/>
          <a:srcRect l="12259" t="15730" r="39436" b="26966"/>
          <a:stretch>
            <a:fillRect/>
          </a:stretch>
        </p:blipFill>
        <p:spPr>
          <a:xfrm>
            <a:off x="5785719" y="3239411"/>
            <a:ext cx="5127680" cy="2732348"/>
          </a:xfrm>
          <a:prstGeom prst="rect">
            <a:avLst/>
          </a:prstGeom>
        </p:spPr>
      </p:pic>
      <p:sp>
        <p:nvSpPr>
          <p:cNvPr id="2" name="Title 1"/>
          <p:cNvSpPr>
            <a:spLocks noGrp="1"/>
          </p:cNvSpPr>
          <p:nvPr>
            <p:ph type="ctrTitle"/>
          </p:nvPr>
        </p:nvSpPr>
        <p:spPr>
          <a:xfrm>
            <a:off x="336884" y="791807"/>
            <a:ext cx="4279196" cy="1752189"/>
          </a:xfrm>
        </p:spPr>
        <p:txBody>
          <a:bodyPr>
            <a:noAutofit/>
          </a:bodyPr>
          <a:lstStyle/>
          <a:p>
            <a:pPr algn="l">
              <a:spcBef>
                <a:spcPts val="1000"/>
              </a:spcBef>
            </a:pPr>
            <a:r>
              <a:rPr lang="en-GB" sz="2800" b="1" dirty="0" err="1">
                <a:solidFill>
                  <a:srgbClr val="FFFFFF"/>
                </a:solidFill>
                <a:latin typeface="Times New Roman" panose="02020603050405020304" pitchFamily="18" charset="0"/>
                <a:ea typeface="+mn-ea"/>
                <a:cs typeface="Times New Roman" panose="02020603050405020304" pitchFamily="18" charset="0"/>
              </a:rPr>
              <a:t>ShiftGuard: AIoT Structural Health Monitoring</a:t>
            </a:r>
            <a:endParaRPr lang="en-GB" sz="2800" b="1" dirty="0">
              <a:solidFill>
                <a:srgbClr val="FFFFFF"/>
              </a:solidFill>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255119" y="2950000"/>
            <a:ext cx="4332307" cy="3500000"/>
          </a:xfrm>
        </p:spPr>
        <p:txBody>
          <a:bodyPr>
            <a:noAutofit/>
          </a:bodyPr>
          <a:lstStyle/>
          <a:p>
            <a:r>
              <a:rPr lang="en-US" sz="1600" b="1" dirty="0">
                <a:solidFill>
                  <a:srgbClr val="FFFFFF"/>
                </a:solidFill>
                <a:latin typeface="Times New Roman" panose="02020603050405020304" pitchFamily="18" charset="0"/>
                <a:cs typeface="Times New Roman" panose="02020603050405020304" pitchFamily="18" charset="0"/>
              </a:rPr>
              <a:t>Team Members</a:t>
            </a:r>
          </a:p>
          <a:p>
            <a:r>
              <a:rPr lang="en-US" sz="1400" dirty="0">
                <a:solidFill>
                  <a:srgbClr val="FFFFFF"/>
                </a:solidFill>
                <a:latin typeface="Times New Roman" panose="02020603050405020304" pitchFamily="18" charset="0"/>
                <a:cs typeface="Times New Roman" panose="02020603050405020304" pitchFamily="18" charset="0"/>
              </a:rPr>
              <a:t>1. Hardik Grover (RA2311003011356)</a:t>
            </a:r>
          </a:p>
          <a:p>
            <a:r>
              <a:rPr lang="en-US" sz="1400" dirty="0">
                <a:solidFill>
                  <a:srgbClr val="FFFFFF"/>
                </a:solidFill>
                <a:latin typeface="Times New Roman" panose="02020603050405020304" pitchFamily="18" charset="0"/>
                <a:cs typeface="Times New Roman" panose="02020603050405020304" pitchFamily="18" charset="0"/>
              </a:rPr>
              <a:t>2. Advait Anand (RA Number)</a:t>
            </a:r>
          </a:p>
          <a:p>
            <a:r>
              <a:rPr lang="en-US" sz="1400" dirty="0">
                <a:solidFill>
                  <a:srgbClr val="FFFFFF"/>
                </a:solidFill>
                <a:latin typeface="Times New Roman" panose="02020603050405020304" pitchFamily="18" charset="0"/>
                <a:cs typeface="Times New Roman" panose="02020603050405020304" pitchFamily="18" charset="0"/>
              </a:rPr>
              <a:t>3. Akash Kumar (RA Number)</a:t>
            </a:r>
          </a:p>
          <a:p>
            <a:r>
              <a:rPr lang="en-US" sz="1400" dirty="0">
                <a:solidFill>
                  <a:srgbClr val="FFFFFF"/>
                </a:solidFill>
                <a:latin typeface="Times New Roman" panose="02020603050405020304" pitchFamily="18" charset="0"/>
                <a:cs typeface="Times New Roman" panose="02020603050405020304" pitchFamily="18" charset="0"/>
              </a:rPr>
              <a:t>4. Yograj (RA Number)</a:t>
            </a:r>
          </a:p>
          <a:p>
            <a:r>
              <a:rPr lang="en-US" sz="1400" dirty="0">
                <a:solidFill>
                  <a:srgbClr val="FFFFFF"/>
                </a:solidFill>
                <a:latin typeface="Times New Roman" panose="02020603050405020304" pitchFamily="18" charset="0"/>
                <a:cs typeface="Times New Roman" panose="02020603050405020304" pitchFamily="18" charset="0"/>
              </a:rPr>
              <a:t>5. Team Member 5 (RA Number)</a:t>
            </a:r>
          </a:p>
          <a:p>
            <a:r>
              <a:rPr lang="en-US"/>
              <a:t/>
            </a:r>
            <a:endParaRPr lang="en-US" sz="700" dirty="0">
              <a:solidFill>
                <a:srgbClr val="FFFFFF"/>
              </a:solidFill>
              <a:latin typeface="Times New Roman" panose="02020603050405020304" pitchFamily="18" charset="0"/>
              <a:cs typeface="Times New Roman" panose="02020603050405020304" pitchFamily="18" charset="0"/>
            </a:endParaRPr>
          </a:p>
          <a:p>
            <a:r>
              <a:rPr lang="en-US" sz="1400" b="1" dirty="0">
                <a:solidFill>
                  <a:srgbClr val="FFFFFF"/>
                </a:solidFill>
                <a:latin typeface="Times New Roman" panose="02020603050405020304" pitchFamily="18" charset="0"/>
                <a:cs typeface="Times New Roman" panose="02020603050405020304" pitchFamily="18" charset="0"/>
              </a:rPr>
              <a:t>Supervisor Name:</a:t>
            </a:r>
          </a:p>
          <a:p>
            <a:r>
              <a:rPr lang="en-US" sz="1400" dirty="0">
                <a:solidFill>
                  <a:srgbClr val="FFFFFF"/>
                </a:solidFill>
                <a:latin typeface="Times New Roman" panose="02020603050405020304" pitchFamily="18" charset="0"/>
                <a:cs typeface="Times New Roman" panose="02020603050405020304" pitchFamily="18" charset="0"/>
              </a:rPr>
              <a:t>Dr. P. Saravanan, M.E., Ph.D.</a:t>
            </a:r>
          </a:p>
          <a:p>
            <a:r>
              <a:rPr lang="en-US" sz="1400" dirty="0">
                <a:solidFill>
                  <a:srgbClr val="FFFFFF"/>
                </a:solidFill>
                <a:latin typeface="Times New Roman" panose="02020603050405020304" pitchFamily="18" charset="0"/>
                <a:cs typeface="Times New Roman" panose="02020603050405020304" pitchFamily="18" charset="0"/>
              </a:rPr>
              <a:t>Department: CTECH</a:t>
            </a:r>
          </a:p>
          <a:p>
            <a:r>
              <a:rPr lang="en-US"/>
              <a:t/>
            </a:r>
            <a:endParaRPr lang="en-US" sz="700" dirty="0">
              <a:solidFill>
                <a:srgbClr val="FFFFFF"/>
              </a:solidFill>
              <a:latin typeface="Times New Roman" panose="02020603050405020304" pitchFamily="18" charset="0"/>
              <a:cs typeface="Times New Roman" panose="02020603050405020304" pitchFamily="18" charset="0"/>
            </a:endParaRPr>
          </a:p>
          <a:p>
            <a:r>
              <a:rPr lang="en-US" sz="1400" b="1" dirty="0">
                <a:solidFill>
                  <a:srgbClr val="FFFFFF"/>
                </a:solidFill>
                <a:latin typeface="Times New Roman" panose="02020603050405020304" pitchFamily="18" charset="0"/>
                <a:cs typeface="Times New Roman" panose="02020603050405020304" pitchFamily="18" charset="0"/>
              </a:rPr>
              <a:t>Review 2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The Problem We Found</a:t>
            </a:r>
            <a:endParaRPr lang="en-IN" dirty="0"/>
          </a:p>
        </p:txBody>
      </p:sp>
      <p:sp>
        <p:nvSpPr>
          <p:cNvPr id="3" name="Content Placeholder 2"/>
          <p:cNvSpPr>
            <a:spLocks noGrp="1"/>
          </p:cNvSpPr>
          <p:nvPr>
            <p:ph idx="1"/>
          </p:nvPr>
        </p:nvSpPr>
        <p:spPr>
          <a:xfrm>
            <a:off x="217715" y="828169"/>
            <a:ext cx="11713028" cy="5710743"/>
          </a:xfrm>
        </p:spPr>
        <p:txBody>
          <a:bodyPr>
            <a:noAutofit/>
          </a:bodyPr>
          <a:lstStyle/>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In the Zeroth Review, our model judged every sensor reading on its own, allowing a 5 % error rate per reading.</a:t>
            </a:r>
          </a:p>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At one reading per hour, that is 5 % of 8,760 hours ≈ 440 false alarms a year. Engineers would soon ignore it.</a:t>
            </a:r>
          </a:p>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Every alarm was called “damage”. But a bridge's readings also change when it is very cold (Z24's deck stiffens when it freezes) or when an IoT sensor breaks (drift, noise, dropout, glitches).</a:t>
            </a:r>
          </a:p>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 real deployment cannot tell us which sensor broke or when, so this is hard to test on real hardware alone.</a:t>
            </a:r>
          </a:p>
          <a:p>
            <a:pPr algn="l">
              <a:spcBef>
                <a:spcPts val="1200"/>
              </a:spcBef>
              <a:buNone/>
            </a:pPr>
            <a:r>
              <a:rPr lang="en-US" sz="2300" b="1" dirty="0">
                <a:solidFill>
                  <a:srgbClr val="065A82"/>
                </a:solidFill>
                <a:latin typeface="Times New Roman" panose="02020603050405020304" pitchFamily="18" charset="0"/>
                <a:cs typeface="Times New Roman" panose="02020603050405020304" pitchFamily="18" charset="0"/>
              </a:rPr>
              <a:t>So our question became</a:t>
            </a:r>
          </a:p>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When the alarm rings: is it damage, weather, or a broken sensor? And can we promise false alarms are rare?</a:t>
            </a:r>
          </a:p>
        </p:txBody>
      </p:sp>
      <p:sp>
        <p:nvSpPr>
          <p:cNvPr id="7" name="Slide Number Placeholder 6"/>
          <p:cNvSpPr>
            <a:spLocks noGrp="1"/>
          </p:cNvSpPr>
          <p:nvPr>
            <p:ph type="sldNum" sz="quarter" idx="12"/>
          </p:nvPr>
        </p:nvSpPr>
        <p:spPr/>
        <p:txBody>
          <a:bodyPr/>
          <a:lstStyle/>
          <a:p>
            <a:r>
              <a:rPr lang="en-US"/>
              <a:t>2</a:t>
            </a:r>
            <a:endParaRPr lang="en-US"/>
          </a:p>
        </p:txBody>
      </p:sp>
      <p:sp>
        <p:nvSpPr>
          <p:cNvPr id="8" name="Date Placeholder 7"/>
          <p:cNvSpPr>
            <a:spLocks noGrp="1"/>
          </p:cNvSpPr>
          <p:nvPr>
            <p:ph type="dt" sz="half" idx="10"/>
          </p:nvPr>
        </p:nvSpPr>
        <p:spPr/>
        <p:txBody>
          <a:bodyPr/>
          <a:lstStyle/>
          <a:p>
            <a:r>
              <a:rPr lang="en-US"/>
              <a:t>October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Our Solution: ShiftGuard</a:t>
            </a:r>
            <a:endParaRPr lang="en-IN" dirty="0"/>
          </a:p>
        </p:txBody>
      </p:sp>
      <p:sp>
        <p:nvSpPr>
          <p:cNvPr id="3" name="Content Placeholder 2"/>
          <p:cNvSpPr>
            <a:spLocks noGrp="1"/>
          </p:cNvSpPr>
          <p:nvPr>
            <p:ph idx="1"/>
          </p:nvPr>
        </p:nvSpPr>
        <p:spPr>
          <a:xfrm>
            <a:off x="217715" y="828169"/>
            <a:ext cx="11713028" cy="5710743"/>
          </a:xfrm>
        </p:spPr>
        <p:txBody>
          <a:bodyPr>
            <a:noAutofit/>
          </a:bodyPr>
          <a:lstStyle/>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Learn only what a healthy bridge looks like: predict each sensor from the other sensors and the temperature.</a:t>
            </a:r>
          </a:p>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Hide the most suspicious sensor and check again. A broken sensor disagrees on its own; real damage makes a whole region disagree.</a:t>
            </a:r>
          </a:p>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Collect evidence over time instead of judging one reading. One odd hour does nothing; a real change keeps adding up.</a:t>
            </a:r>
          </a:p>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Three detectors run side by side (structure, each sensor, weather), so every alarm names its cause.</a:t>
            </a:r>
          </a:p>
          <a:p>
            <a:pPr algn="l">
              <a:spcBef>
                <a:spcPts val="1200"/>
              </a:spcBef>
              <a:buNone/>
            </a:pPr>
            <a:r>
              <a:rPr lang="en-US" sz="2300" b="1" dirty="0">
                <a:solidFill>
                  <a:srgbClr val="065A82"/>
                </a:solidFill>
                <a:latin typeface="Times New Roman" panose="02020603050405020304" pitchFamily="18" charset="0"/>
                <a:cs typeface="Times New Roman" panose="02020603050405020304" pitchFamily="18" charset="0"/>
              </a:rPr>
              <a:t>The guarantee</a:t>
            </a:r>
          </a:p>
          <a:p>
            <a:pPr algn="just">
              <a:spcBef>
                <a:spcPts val="12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On a healthy bridge, the expected time to a false alarm is at least 10,000 hours (about 14 months).</a:t>
            </a:r>
          </a:p>
        </p:txBody>
      </p:sp>
      <p:sp>
        <p:nvSpPr>
          <p:cNvPr id="7" name="Slide Number Placeholder 6"/>
          <p:cNvSpPr>
            <a:spLocks noGrp="1"/>
          </p:cNvSpPr>
          <p:nvPr>
            <p:ph type="sldNum" sz="quarter" idx="12"/>
          </p:nvPr>
        </p:nvSpPr>
        <p:spPr/>
        <p:txBody>
          <a:bodyPr/>
          <a:lstStyle/>
          <a:p>
            <a:r>
              <a:rPr lang="en-US"/>
              <a:t>3</a:t>
            </a:r>
            <a:endParaRPr lang="en-US"/>
          </a:p>
        </p:txBody>
      </p:sp>
      <p:sp>
        <p:nvSpPr>
          <p:cNvPr id="8" name="Date Placeholder 7"/>
          <p:cNvSpPr>
            <a:spLocks noGrp="1"/>
          </p:cNvSpPr>
          <p:nvPr>
            <p:ph type="dt" sz="half" idx="10"/>
          </p:nvPr>
        </p:nvSpPr>
        <p:spPr/>
        <p:txBody>
          <a:bodyPr/>
          <a:lstStyle/>
          <a:p>
            <a:r>
              <a:rPr lang="en-US"/>
              <a:t>October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r>
              <a:rPr lang="en-US"/>
              <a:t>4</a:t>
            </a:r>
            <a:endParaRPr lang="en-US"/>
          </a:p>
        </p:txBody>
      </p:sp>
      <p:sp>
        <p:nvSpPr>
          <p:cNvPr id="15" name="Date Placeholder 14"/>
          <p:cNvSpPr>
            <a:spLocks noGrp="1"/>
          </p:cNvSpPr>
          <p:nvPr>
            <p:ph type="dt" sz="half" idx="10"/>
          </p:nvPr>
        </p:nvSpPr>
        <p:spPr/>
        <p:txBody>
          <a:bodyPr/>
          <a:lstStyle/>
          <a:p>
            <a:r>
              <a:rPr lang="en-US"/>
              <a:t>October 2026</a:t>
            </a:r>
          </a:p>
        </p:txBody>
      </p:sp>
      <p:sp>
        <p:nvSpPr>
          <p:cNvPr id="20" name="TitleBox"/>
          <p:cNvSpPr txBox="1"/>
          <p:nvPr/>
        </p:nvSpPr>
        <p:spPr>
          <a:xfrm>
            <a:off x="457200" y="136525"/>
            <a:ext cx="11277600" cy="700000"/>
          </a:xfrm>
          <a:prstGeom prst="rect">
            <a:avLst/>
          </a:prstGeom>
          <a:noFill/>
        </p:spPr>
        <p:txBody>
          <a:bodyPr wrap="square" anchor="ctr">
            <a:noAutofit/>
          </a:bodyPr>
          <a:lstStyle/>
          <a:p>
            <a:pPr algn="ctr"/>
            <a:r>
              <a:rPr lang="en-US" sz="3600" b="1" dirty="0">
                <a:latin typeface="Times New Roman" panose="02020603050405020304" pitchFamily="18" charset="0"/>
                <a:cs typeface="Times New Roman" panose="02020603050405020304" pitchFamily="18" charset="0"/>
              </a:rPr>
              <a:t>Work Flow of ShiftGuard</a:t>
            </a:r>
          </a:p>
        </p:txBody>
      </p:sp>
      <p:sp>
        <p:nvSpPr>
          <p:cNvPr id="101" name="FlowBox101"/>
          <p:cNvSpPr/>
          <p:nvPr/>
        </p:nvSpPr>
        <p:spPr>
          <a:xfrm>
            <a:off x="1596000" y="950000"/>
            <a:ext cx="9000000" cy="380000"/>
          </a:xfrm>
          <a:prstGeom prst="roundRect">
            <a:avLst>
              <a:gd name="adj" fmla="val 12000"/>
            </a:avLst>
          </a:prstGeom>
          <a:solidFill>
            <a:srgbClr val="065A8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Virtual IoT sensors: 8 accelerometers + 1 thermometer, over MQTT every hour</a:t>
            </a:r>
          </a:p>
        </p:txBody>
      </p:sp>
      <p:sp>
        <p:nvSpPr>
          <p:cNvPr id="102" name="Arrow102"/>
          <p:cNvSpPr txBox="1"/>
          <p:nvPr/>
        </p:nvSpPr>
        <p:spPr>
          <a:xfrm>
            <a:off x="6006000" y="133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03" name="FlowBox103"/>
          <p:cNvSpPr/>
          <p:nvPr/>
        </p:nvSpPr>
        <p:spPr>
          <a:xfrm>
            <a:off x="1596000" y="1420000"/>
            <a:ext cx="9000000" cy="380000"/>
          </a:xfrm>
          <a:prstGeom prst="roundRect">
            <a:avLst>
              <a:gd name="adj" fmla="val 12000"/>
            </a:avLst>
          </a:prstGeom>
          <a:solidFill>
            <a:srgbClr val="1C7293"/>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Feature extraction: 16 frequency bands per sensor</a:t>
            </a:r>
          </a:p>
        </p:txBody>
      </p:sp>
      <p:sp>
        <p:nvSpPr>
          <p:cNvPr id="104" name="Arrow104"/>
          <p:cNvSpPr txBox="1"/>
          <p:nvPr/>
        </p:nvSpPr>
        <p:spPr>
          <a:xfrm>
            <a:off x="6006000" y="180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05" name="FlowBox105"/>
          <p:cNvSpPr/>
          <p:nvPr/>
        </p:nvSpPr>
        <p:spPr>
          <a:xfrm>
            <a:off x="1596000" y="1890000"/>
            <a:ext cx="4400000" cy="500000"/>
          </a:xfrm>
          <a:prstGeom prst="roundRect">
            <a:avLst>
              <a:gd name="adj" fmla="val 12000"/>
            </a:avLst>
          </a:prstGeom>
          <a:solidFill>
            <a:srgbClr val="065A8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Masked-sensor model</a:t>
            </a:r>
          </a:p>
          <a:p>
            <a:pPr algn="ctr"/>
            <a:r>
              <a:rPr lang="en-US" sz="980" dirty="0">
                <a:solidFill>
                  <a:srgbClr val="FFFFFF"/>
                </a:solidFill>
                <a:latin typeface="Calibri"/>
              </a:rPr>
              <a:t>predicts each sensor from the others + temperature</a:t>
            </a:r>
          </a:p>
        </p:txBody>
      </p:sp>
      <p:sp>
        <p:nvSpPr>
          <p:cNvPr id="106" name="FlowBox106"/>
          <p:cNvSpPr/>
          <p:nvPr/>
        </p:nvSpPr>
        <p:spPr>
          <a:xfrm>
            <a:off x="6196000" y="1890000"/>
            <a:ext cx="4400000" cy="500000"/>
          </a:xfrm>
          <a:prstGeom prst="roundRect">
            <a:avLst>
              <a:gd name="adj" fmla="val 12000"/>
            </a:avLst>
          </a:prstGeom>
          <a:solidFill>
            <a:srgbClr val="1C7293"/>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Mask &amp; impute</a:t>
            </a:r>
          </a:p>
          <a:p>
            <a:pPr algn="ctr"/>
            <a:r>
              <a:rPr lang="en-US" sz="980" dirty="0">
                <a:solidFill>
                  <a:srgbClr val="FFFFFF"/>
                </a:solidFill>
                <a:latin typeface="Calibri"/>
              </a:rPr>
              <a:t>hides the most suspicious sensor, fills lost packets</a:t>
            </a:r>
          </a:p>
        </p:txBody>
      </p:sp>
      <p:sp>
        <p:nvSpPr>
          <p:cNvPr id="107" name="Arrow107"/>
          <p:cNvSpPr txBox="1"/>
          <p:nvPr/>
        </p:nvSpPr>
        <p:spPr>
          <a:xfrm>
            <a:off x="6006000" y="239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08" name="FlowBox108"/>
          <p:cNvSpPr/>
          <p:nvPr/>
        </p:nvSpPr>
        <p:spPr>
          <a:xfrm>
            <a:off x="1596000" y="2480000"/>
            <a:ext cx="9000000" cy="380000"/>
          </a:xfrm>
          <a:prstGeom prst="roundRect">
            <a:avLst>
              <a:gd name="adj" fmla="val 12000"/>
            </a:avLst>
          </a:prstGeom>
          <a:solidFill>
            <a:srgbClr val="065A8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Conformal p-values: compared only with healthy hours at the same temperature</a:t>
            </a:r>
          </a:p>
        </p:txBody>
      </p:sp>
      <p:sp>
        <p:nvSpPr>
          <p:cNvPr id="109" name="Arrow109"/>
          <p:cNvSpPr txBox="1"/>
          <p:nvPr/>
        </p:nvSpPr>
        <p:spPr>
          <a:xfrm>
            <a:off x="6006000" y="286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10" name="FlowBox110"/>
          <p:cNvSpPr/>
          <p:nvPr/>
        </p:nvSpPr>
        <p:spPr>
          <a:xfrm>
            <a:off x="1596000" y="2950000"/>
            <a:ext cx="9000000" cy="380000"/>
          </a:xfrm>
          <a:prstGeom prst="roundRect">
            <a:avLst>
              <a:gd name="adj" fmla="val 12000"/>
            </a:avLst>
          </a:prstGeom>
          <a:solidFill>
            <a:srgbClr val="1C7293"/>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Three e-detectors collect evidence: Structure · Each sensor · Weather</a:t>
            </a:r>
          </a:p>
        </p:txBody>
      </p:sp>
      <p:sp>
        <p:nvSpPr>
          <p:cNvPr id="111" name="Arrow111"/>
          <p:cNvSpPr txBox="1"/>
          <p:nvPr/>
        </p:nvSpPr>
        <p:spPr>
          <a:xfrm>
            <a:off x="6006000" y="333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12" name="FlowBox112"/>
          <p:cNvSpPr/>
          <p:nvPr/>
        </p:nvSpPr>
        <p:spPr>
          <a:xfrm>
            <a:off x="1596000" y="3420000"/>
            <a:ext cx="9000000" cy="380000"/>
          </a:xfrm>
          <a:prstGeom prst="roundRect">
            <a:avLst>
              <a:gd name="adj" fmla="val 12000"/>
            </a:avLst>
          </a:prstGeom>
          <a:solidFill>
            <a:srgbClr val="6B4C9A"/>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Alarm only when evidence ≥ 10,000 → expected time to a false alarm ≥ 10,000 h</a:t>
            </a:r>
          </a:p>
        </p:txBody>
      </p:sp>
      <p:sp>
        <p:nvSpPr>
          <p:cNvPr id="113" name="Arrow113"/>
          <p:cNvSpPr txBox="1"/>
          <p:nvPr/>
        </p:nvSpPr>
        <p:spPr>
          <a:xfrm>
            <a:off x="6006000" y="380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14" name="FlowBox114"/>
          <p:cNvSpPr/>
          <p:nvPr/>
        </p:nvSpPr>
        <p:spPr>
          <a:xfrm>
            <a:off x="1596000" y="3890000"/>
            <a:ext cx="2866667" cy="400000"/>
          </a:xfrm>
          <a:prstGeom prst="roundRect">
            <a:avLst>
              <a:gd name="adj" fmla="val 12000"/>
            </a:avLst>
          </a:prstGeom>
          <a:solidFill>
            <a:srgbClr val="C0392B"/>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Structural damage</a:t>
            </a:r>
          </a:p>
          <a:p>
            <a:pPr algn="ctr"/>
            <a:r>
              <a:rPr lang="en-US" sz="980" dirty="0">
                <a:solidFill>
                  <a:srgbClr val="FFFFFF"/>
                </a:solidFill>
                <a:latin typeface="Calibri"/>
              </a:rPr>
              <a:t>with severity: Moderate / Severe</a:t>
            </a:r>
          </a:p>
        </p:txBody>
      </p:sp>
      <p:sp>
        <p:nvSpPr>
          <p:cNvPr id="115" name="FlowBox115"/>
          <p:cNvSpPr/>
          <p:nvPr/>
        </p:nvSpPr>
        <p:spPr>
          <a:xfrm>
            <a:off x="4662667" y="3890000"/>
            <a:ext cx="2866667" cy="400000"/>
          </a:xfrm>
          <a:prstGeom prst="roundRect">
            <a:avLst>
              <a:gd name="adj" fmla="val 12000"/>
            </a:avLst>
          </a:prstGeom>
          <a:solidFill>
            <a:srgbClr val="D9822B"/>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Broken sensor</a:t>
            </a:r>
          </a:p>
          <a:p>
            <a:pPr algn="ctr"/>
            <a:r>
              <a:rPr lang="en-US" sz="980" dirty="0">
                <a:solidFill>
                  <a:srgbClr val="FFFFFF"/>
                </a:solidFill>
                <a:latin typeface="Calibri"/>
              </a:rPr>
              <a:t>names which sensor</a:t>
            </a:r>
          </a:p>
        </p:txBody>
      </p:sp>
      <p:sp>
        <p:nvSpPr>
          <p:cNvPr id="116" name="FlowBox116"/>
          <p:cNvSpPr/>
          <p:nvPr/>
        </p:nvSpPr>
        <p:spPr>
          <a:xfrm>
            <a:off x="7729334" y="3890000"/>
            <a:ext cx="2866667" cy="400000"/>
          </a:xfrm>
          <a:prstGeom prst="roundRect">
            <a:avLst>
              <a:gd name="adj" fmla="val 12000"/>
            </a:avLst>
          </a:prstGeom>
          <a:solidFill>
            <a:srgbClr val="2A78D6"/>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Unusual weather</a:t>
            </a:r>
          </a:p>
          <a:p>
            <a:pPr algn="ctr"/>
            <a:r>
              <a:rPr lang="en-US" sz="980" dirty="0">
                <a:solidFill>
                  <a:srgbClr val="FFFFFF"/>
                </a:solidFill>
                <a:latin typeface="Calibri"/>
              </a:rPr>
              <a:t>logged, not called damage</a:t>
            </a:r>
          </a:p>
        </p:txBody>
      </p:sp>
      <p:sp>
        <p:nvSpPr>
          <p:cNvPr id="117" name="Arrow117"/>
          <p:cNvSpPr txBox="1"/>
          <p:nvPr/>
        </p:nvSpPr>
        <p:spPr>
          <a:xfrm>
            <a:off x="6006000" y="429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18" name="FlowBox118"/>
          <p:cNvSpPr/>
          <p:nvPr/>
        </p:nvSpPr>
        <p:spPr>
          <a:xfrm>
            <a:off x="1596000" y="4380000"/>
            <a:ext cx="9000000" cy="380000"/>
          </a:xfrm>
          <a:prstGeom prst="roundRect">
            <a:avLst>
              <a:gd name="adj" fmla="val 12000"/>
            </a:avLst>
          </a:prstGeom>
          <a:solidFill>
            <a:srgbClr val="065A8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Health score + damage location</a:t>
            </a:r>
          </a:p>
        </p:txBody>
      </p:sp>
      <p:sp>
        <p:nvSpPr>
          <p:cNvPr id="119" name="Arrow119"/>
          <p:cNvSpPr txBox="1"/>
          <p:nvPr/>
        </p:nvSpPr>
        <p:spPr>
          <a:xfrm>
            <a:off x="6006000" y="476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20" name="FlowBox120"/>
          <p:cNvSpPr/>
          <p:nvPr/>
        </p:nvSpPr>
        <p:spPr>
          <a:xfrm>
            <a:off x="1596000" y="4850000"/>
            <a:ext cx="9000000" cy="380000"/>
          </a:xfrm>
          <a:prstGeom prst="roundRect">
            <a:avLst>
              <a:gd name="adj" fmla="val 12000"/>
            </a:avLst>
          </a:prstGeom>
          <a:solidFill>
            <a:srgbClr val="1C7293"/>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Dashboard + live digital twin</a:t>
            </a:r>
          </a:p>
        </p:txBody>
      </p:sp>
      <p:sp>
        <p:nvSpPr>
          <p:cNvPr id="121" name="Arrow121"/>
          <p:cNvSpPr txBox="1"/>
          <p:nvPr/>
        </p:nvSpPr>
        <p:spPr>
          <a:xfrm>
            <a:off x="6006000" y="5230000"/>
            <a:ext cx="180000" cy="90000"/>
          </a:xfrm>
          <a:prstGeom prst="rect">
            <a:avLst/>
          </a:prstGeom>
          <a:noFill/>
        </p:spPr>
        <p:txBody>
          <a:bodyPr wrap="none" lIns="0" tIns="0" rIns="0" bIns="0" anchor="ctr"/>
          <a:lstStyle/>
          <a:p>
            <a:pPr algn="ctr"/>
            <a:r>
              <a:rPr lang="en-US" sz="1700" b="1" dirty="0">
                <a:solidFill>
                  <a:srgbClr val="595959"/>
                </a:solidFill>
              </a:rPr>
              <a:t>↓</a:t>
            </a:r>
          </a:p>
        </p:txBody>
      </p:sp>
      <p:sp>
        <p:nvSpPr>
          <p:cNvPr id="122" name="FlowBox122"/>
          <p:cNvSpPr/>
          <p:nvPr/>
        </p:nvSpPr>
        <p:spPr>
          <a:xfrm>
            <a:off x="1596000" y="5320000"/>
            <a:ext cx="9000000" cy="420000"/>
          </a:xfrm>
          <a:prstGeom prst="roundRect">
            <a:avLst>
              <a:gd name="adj" fmla="val 12000"/>
            </a:avLst>
          </a:prstGeom>
          <a:solidFill>
            <a:srgbClr val="B85042"/>
          </a:solidFill>
          <a:ln>
            <a:noFill/>
          </a:ln>
          <a:effectLst>
            <a:outerShdw blurRad="40000" dist="20000" dir="5400000" rotWithShape="0">
              <a:srgbClr val="000000">
                <a:alpha val="28000"/>
              </a:srgbClr>
            </a:outerShdw>
          </a:effectLst>
        </p:spPr>
        <p:txBody>
          <a:bodyPr wrap="square" lIns="36000" tIns="18000" rIns="36000" bIns="18000" anchor="ctr">
            <a:normAutofit/>
          </a:bodyPr>
          <a:lstStyle/>
          <a:p>
            <a:pPr algn="ctr"/>
            <a:r>
              <a:rPr lang="en-US" sz="1200" b="1" dirty="0">
                <a:solidFill>
                  <a:srgbClr val="FFFFFF"/>
                </a:solidFill>
                <a:latin typeface="Calibri"/>
              </a:rPr>
              <a:t>Alert → maintenance engineer</a:t>
            </a:r>
          </a:p>
          <a:p>
            <a:pPr algn="ctr"/>
            <a:r>
              <a:rPr lang="en-US" sz="980" dirty="0">
                <a:solidFill>
                  <a:srgbClr val="FFFFFF"/>
                </a:solidFill>
                <a:latin typeface="Calibri"/>
              </a:rPr>
              <a:t>email via Node-RED for damage and broken sensors</a:t>
            </a:r>
          </a:p>
        </p:txBody>
      </p:sp>
      <p:sp>
        <p:nvSpPr>
          <p:cNvPr id="123" name="Caption123"/>
          <p:cNvSpPr txBox="1"/>
          <p:nvPr/>
        </p:nvSpPr>
        <p:spPr>
          <a:xfrm>
            <a:off x="1596000" y="5850000"/>
            <a:ext cx="9000000" cy="380000"/>
          </a:xfrm>
          <a:prstGeom prst="rect">
            <a:avLst/>
          </a:prstGeom>
          <a:noFill/>
        </p:spPr>
        <p:txBody>
          <a:bodyPr wrap="square" anchor="ctr">
            <a:noAutofit/>
          </a:bodyPr>
          <a:lstStyle/>
          <a:p>
            <a:pPr algn="ctr"/>
            <a:r>
              <a:rPr lang="en-US" sz="1050" i="1" dirty="0">
                <a:solidFill>
                  <a:srgbClr val="595959"/>
                </a:solidFill>
                <a:latin typeface="Times New Roman" panose="02020603050405020304" pitchFamily="18" charset="0"/>
              </a:rPr>
              <a:t>Trained only on healthy data. Every alarm says what changed: the structure, a sensor, or the weather.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8883" y="47040"/>
            <a:ext cx="10515600" cy="607384"/>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How It Works (In Plain Words)</a:t>
            </a:r>
          </a:p>
        </p:txBody>
      </p:sp>
      <p:sp>
        <p:nvSpPr>
          <p:cNvPr id="3" name="Content Placeholder 2"/>
          <p:cNvSpPr>
            <a:spLocks noGrp="1"/>
          </p:cNvSpPr>
          <p:nvPr>
            <p:ph idx="1"/>
          </p:nvPr>
        </p:nvSpPr>
        <p:spPr>
          <a:xfrm>
            <a:off x="629695" y="654424"/>
            <a:ext cx="10929257" cy="6067051"/>
          </a:xfrm>
        </p:spPr>
        <p:txBody>
          <a:bodyPr>
            <a:noAutofit/>
          </a:bodyPr>
          <a:lstStyle/>
          <a:p>
            <a:pPr algn="l">
              <a:spcBef>
                <a:spcPts val="14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Listen: 8 virtual accelerometers and a thermometer send a 20-second vibration recording every hour.</a:t>
            </a:r>
          </a:p>
          <a:p>
            <a:pPr algn="l">
              <a:spcBef>
                <a:spcPts val="14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Fingerprint: each recording becomes 16 frequency-band values per sensor.</a:t>
            </a:r>
          </a:p>
          <a:p>
            <a:pPr algn="l">
              <a:spcBef>
                <a:spcPts val="14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Cross-check: the model guesses each sensor from the others; the gap is that sensor's “disagreement score”.</a:t>
            </a:r>
          </a:p>
          <a:p>
            <a:pPr algn="l">
              <a:spcBef>
                <a:spcPts val="14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Compare fairly: today's score is ranked only against healthy hours at a similar temperature (conformal p-value).</a:t>
            </a:r>
          </a:p>
          <a:p>
            <a:pPr algn="l">
              <a:spcBef>
                <a:spcPts val="14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Add up evidence: small surprises accumulate; normal hours slowly erase them (CUSUM-type e-detector).</a:t>
            </a:r>
          </a:p>
          <a:p>
            <a:pPr algn="l">
              <a:spcBef>
                <a:spcPts val="1400"/>
              </a:spcBef>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Decide and explain: damage, broken sensor or weather, plus severity, shown on the dashboard and emailed.</a:t>
            </a:r>
          </a:p>
        </p:txBody>
      </p:sp>
      <p:sp>
        <p:nvSpPr>
          <p:cNvPr id="7" name="Slide Number Placeholder 6"/>
          <p:cNvSpPr>
            <a:spLocks noGrp="1"/>
          </p:cNvSpPr>
          <p:nvPr>
            <p:ph type="sldNum" sz="quarter" idx="12"/>
          </p:nvPr>
        </p:nvSpPr>
        <p:spPr/>
        <p:txBody>
          <a:bodyPr/>
          <a:lstStyle/>
          <a:p>
            <a:r>
              <a:rPr lang="en-US"/>
              <a:t>5</a:t>
            </a:r>
            <a:endParaRPr lang="en-US"/>
          </a:p>
        </p:txBody>
      </p:sp>
      <p:sp>
        <p:nvSpPr>
          <p:cNvPr id="8" name="Date Placeholder 7"/>
          <p:cNvSpPr>
            <a:spLocks noGrp="1"/>
          </p:cNvSpPr>
          <p:nvPr>
            <p:ph type="dt" sz="half" idx="10"/>
          </p:nvPr>
        </p:nvSpPr>
        <p:spPr/>
        <p:txBody>
          <a:bodyPr/>
          <a:lstStyle/>
          <a:p>
            <a:r>
              <a:rPr lang="en-US"/>
              <a:t>October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Software-Defined AIoT Testbed</a:t>
            </a:r>
            <a:endParaRPr lang="en-IN" dirty="0"/>
          </a:p>
        </p:txBody>
      </p:sp>
      <p:sp>
        <p:nvSpPr>
          <p:cNvPr id="3" name="Content Placeholder 2"/>
          <p:cNvSpPr>
            <a:spLocks noGrp="1"/>
          </p:cNvSpPr>
          <p:nvPr>
            <p:ph idx="1"/>
          </p:nvPr>
        </p:nvSpPr>
        <p:spPr>
          <a:xfrm>
            <a:off x="217715" y="828169"/>
            <a:ext cx="5760720" cy="5710743"/>
          </a:xfrm>
        </p:spPr>
        <p:txBody>
          <a:bodyPr>
            <a:noAutofit/>
          </a:bodyPr>
          <a:lstStyle/>
          <a:p>
            <a:pPr algn="l">
              <a:spcBef>
                <a:spcPts val="1000"/>
              </a:spcBef>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Virtual sensor network over MQTT: a Tinkercad/Wokwi-style circuit, but for a whole bridge.</a:t>
            </a:r>
          </a:p>
          <a:p>
            <a:pPr algn="l">
              <a:spcBef>
                <a:spcPts val="1000"/>
              </a:spcBef>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fault injector breaks sensors on demand, so we know exactly which sensor failed and when.</a:t>
            </a:r>
          </a:p>
          <a:p>
            <a:pPr algn="l">
              <a:spcBef>
                <a:spcPts val="1000"/>
              </a:spcBef>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Edge monitor: 4.9 ms per reading on a laptop.</a:t>
            </a:r>
          </a:p>
          <a:p>
            <a:pPr algn="l">
              <a:spcBef>
                <a:spcPts val="1000"/>
              </a:spcBef>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Live digital twin: click a sensor to break it, or add snow, damage, or a repair.</a:t>
            </a:r>
          </a:p>
          <a:p>
            <a:pPr algn="l">
              <a:spcBef>
                <a:spcPts val="1000"/>
              </a:spcBef>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Self-healing: restarts crashed parts and fills lost packets.</a:t>
            </a:r>
          </a:p>
          <a:p>
            <a:pPr algn="l">
              <a:spcBef>
                <a:spcPts val="1000"/>
              </a:spcBef>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Optional: Wokwi ESP32 + DHT22 as a real temperature node.</a:t>
            </a:r>
          </a:p>
        </p:txBody>
      </p:sp>
      <p:sp>
        <p:nvSpPr>
          <p:cNvPr id="7" name="Slide Number Placeholder 6"/>
          <p:cNvSpPr>
            <a:spLocks noGrp="1"/>
          </p:cNvSpPr>
          <p:nvPr>
            <p:ph type="sldNum" sz="quarter" idx="12"/>
          </p:nvPr>
        </p:nvSpPr>
        <p:spPr/>
        <p:txBody>
          <a:bodyPr/>
          <a:lstStyle/>
          <a:p>
            <a:r>
              <a:rPr lang="en-US"/>
              <a:t>6</a:t>
            </a:r>
            <a:endParaRPr lang="en-US"/>
          </a:p>
        </p:txBody>
      </p:sp>
      <p:sp>
        <p:nvSpPr>
          <p:cNvPr id="8" name="Date Placeholder 7"/>
          <p:cNvSpPr>
            <a:spLocks noGrp="1"/>
          </p:cNvSpPr>
          <p:nvPr>
            <p:ph type="dt" sz="half" idx="10"/>
          </p:nvPr>
        </p:nvSpPr>
        <p:spPr/>
        <p:txBody>
          <a:bodyPr/>
          <a:lstStyle/>
          <a:p>
            <a:r>
              <a:rPr lang="en-US"/>
              <a:t>October 2026</a:t>
            </a:r>
          </a:p>
        </p:txBody>
      </p:sp>
      <p:pic>
        <p:nvPicPr>
          <p:cNvPr id="9" name="Twin screenshot" descr="live_bridge_damage.png"/>
          <p:cNvPicPr>
            <a:picLocks noChangeAspect="1"/>
          </p:cNvPicPr>
          <p:nvPr/>
        </p:nvPicPr>
        <p:blipFill>
          <a:blip r:embed="rId2"/>
          <a:stretch>
            <a:fillRect/>
          </a:stretch>
        </p:blipFill>
        <p:spPr>
          <a:xfrm>
            <a:off x="6172200" y="1234440"/>
            <a:ext cx="5669280" cy="3130989"/>
          </a:xfrm>
          <a:prstGeom prst="rect">
            <a:avLst/>
          </a:prstGeom>
        </p:spPr>
      </p:pic>
      <p:sp>
        <p:nvSpPr>
          <p:cNvPr id="10" name="Twin caption"/>
          <p:cNvSpPr txBox="1"/>
          <p:nvPr/>
        </p:nvSpPr>
        <p:spPr>
          <a:xfrm>
            <a:off x="6172200" y="4411149"/>
            <a:ext cx="5669280" cy="320040"/>
          </a:xfrm>
          <a:prstGeom prst="rect">
            <a:avLst/>
          </a:prstGeom>
          <a:noFill/>
        </p:spPr>
        <p:txBody>
          <a:bodyPr wrap="none">
            <a:spAutoFit/>
          </a:bodyPr>
          <a:lstStyle/>
          <a:p>
            <a:r>
              <a:rPr sz="1116" i="1">
                <a:latin typeface="Times New Roman"/>
              </a:rPr>
              <a:t>Live digital twin during severe damage: located at S5–S6, severity Severe (live demo)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444" y="180000"/>
            <a:ext cx="10939112" cy="700000"/>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Results</a:t>
            </a:r>
          </a:p>
        </p:txBody>
      </p:sp>
      <p:sp>
        <p:nvSpPr>
          <p:cNvPr id="3" name="Content Placeholder 2"/>
          <p:cNvSpPr>
            <a:spLocks noGrp="1"/>
          </p:cNvSpPr>
          <p:nvPr>
            <p:ph idx="1"/>
          </p:nvPr>
        </p:nvSpPr>
        <p:spPr>
          <a:xfrm>
            <a:off x="396000" y="1050000"/>
            <a:ext cx="3600000" cy="4300000"/>
          </a:xfrm>
        </p:spPr>
        <p:txBody>
          <a:bodyPr>
            <a:noAutofit/>
          </a:bodyPr>
          <a:lstStyle/>
          <a:p>
            <a:pPr algn="l" marL="0" indent="0">
              <a:spcBef>
                <a:spcPts val="1200"/>
              </a:spcBef>
              <a:spcAft>
                <a:spcPts val="600"/>
              </a:spcAft>
              <a:buNone/>
            </a:pPr>
            <a:r>
              <a:rPr lang="en-US" sz="1900" b="1" dirty="0">
                <a:solidFill>
                  <a:srgbClr val="065A82"/>
                </a:solidFill>
                <a:latin typeface="Times New Roman" panose="02020603050405020304" pitchFamily="18" charset="0"/>
                <a:cs typeface="Times New Roman" panose="02020603050405020304" pitchFamily="18" charset="0"/>
              </a:rPr>
              <a:t>Simulated year</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False alarms: 26 h vs 347 h (old method)</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Damage found in under 4 hours</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Broken sensor blamed on the right sensor: 94 %</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Faults or cold snap called damage: 0 %</a:t>
            </a:r>
          </a:p>
        </p:txBody>
      </p:sp>
      <p:sp>
        <p:nvSpPr>
          <p:cNvPr id="5" name="Slide Number Placeholder 4"/>
          <p:cNvSpPr>
            <a:spLocks noGrp="1"/>
          </p:cNvSpPr>
          <p:nvPr>
            <p:ph type="sldNum" sz="quarter" idx="12"/>
          </p:nvPr>
        </p:nvSpPr>
        <p:spPr/>
        <p:txBody>
          <a:bodyPr/>
          <a:lstStyle/>
          <a:p>
            <a:r>
              <a:rPr lang="en-US"/>
              <a:t>7</a:t>
            </a:r>
            <a:endParaRPr lang="en-US"/>
          </a:p>
        </p:txBody>
      </p:sp>
      <p:sp>
        <p:nvSpPr>
          <p:cNvPr id="9" name="Date Placeholder 8"/>
          <p:cNvSpPr>
            <a:spLocks noGrp="1"/>
          </p:cNvSpPr>
          <p:nvPr>
            <p:ph type="dt" sz="half" idx="10"/>
          </p:nvPr>
        </p:nvSpPr>
        <p:spPr/>
        <p:txBody>
          <a:bodyPr/>
          <a:lstStyle/>
          <a:p>
            <a:r>
              <a:rPr lang="en-US"/>
              <a:t>October 2026</a:t>
            </a:r>
          </a:p>
        </p:txBody>
      </p:sp>
      <p:sp>
        <p:nvSpPr>
          <p:cNvPr id="50" name="Column50"/>
          <p:cNvSpPr txBox="1"/>
          <p:nvPr/>
        </p:nvSpPr>
        <p:spPr>
          <a:xfrm>
            <a:off x="4296000" y="1050000"/>
            <a:ext cx="3600000" cy="4300000"/>
          </a:xfrm>
          <a:prstGeom prst="rect">
            <a:avLst/>
          </a:prstGeom>
          <a:noFill/>
        </p:spPr>
        <p:txBody>
          <a:bodyPr wrap="square" anchor="t">
            <a:noAutofit/>
          </a:bodyPr>
          <a:lstStyle/>
          <a:p>
            <a:pPr algn="l" marL="0" indent="0">
              <a:spcBef>
                <a:spcPts val="1200"/>
              </a:spcBef>
              <a:spcAft>
                <a:spcPts val="600"/>
              </a:spcAft>
              <a:buNone/>
            </a:pPr>
            <a:r>
              <a:rPr lang="en-US" sz="1900" b="1" dirty="0">
                <a:solidFill>
                  <a:srgbClr val="065A82"/>
                </a:solidFill>
                <a:latin typeface="Times New Roman" panose="02020603050405020304" pitchFamily="18" charset="0"/>
                <a:cs typeface="Times New Roman" panose="02020603050405020304" pitchFamily="18" charset="0"/>
              </a:rPr>
              <a:t>Real Z24 bridge data</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False alarms: 10 h vs 391 h (old method)</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Faults called damage: 0.3 % (old: 23 %)</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Cold snap called damage: 0 % (old: 16.5 %)</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Severe damage detected; moderate missed</a:t>
            </a:r>
          </a:p>
        </p:txBody>
      </p:sp>
      <p:sp>
        <p:nvSpPr>
          <p:cNvPr id="51" name="Column51"/>
          <p:cNvSpPr txBox="1"/>
          <p:nvPr/>
        </p:nvSpPr>
        <p:spPr>
          <a:xfrm>
            <a:off x="8196000" y="1050000"/>
            <a:ext cx="3600000" cy="4300000"/>
          </a:xfrm>
          <a:prstGeom prst="rect">
            <a:avLst/>
          </a:prstGeom>
          <a:noFill/>
        </p:spPr>
        <p:txBody>
          <a:bodyPr wrap="square" anchor="t">
            <a:noAutofit/>
          </a:bodyPr>
          <a:lstStyle/>
          <a:p>
            <a:pPr algn="l" marL="0" indent="0">
              <a:spcBef>
                <a:spcPts val="1200"/>
              </a:spcBef>
              <a:spcAft>
                <a:spcPts val="600"/>
              </a:spcAft>
              <a:buNone/>
            </a:pPr>
            <a:r>
              <a:rPr lang="en-US" sz="1900" b="1" dirty="0">
                <a:solidFill>
                  <a:srgbClr val="065A82"/>
                </a:solidFill>
                <a:latin typeface="Times New Roman" panose="02020603050405020304" pitchFamily="18" charset="0"/>
                <a:cs typeface="Times New Roman" panose="02020603050405020304" pitchFamily="18" charset="0"/>
              </a:rPr>
              <a:t>What each part adds</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Without evidence collection: ≈ 330 false-alarm episodes</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Without sensor masking: 91 % of faults called damage</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Without the weather detector: 33 % of the cold snap called damage</a:t>
            </a:r>
          </a:p>
          <a:p>
            <a:pPr marL="228600" indent="-228600" algn="l">
              <a:spcBef>
                <a:spcPts val="1200"/>
              </a:spcBef>
              <a:buFont typeface="Arial" pitchFamily="34" charset="0"/>
              <a:buChar char="•"/>
            </a:pPr>
            <a:r>
              <a:rPr lang="en-US" sz="1800" dirty="0">
                <a:latin typeface="Times New Roman" panose="02020603050405020304" pitchFamily="18" charset="0"/>
                <a:cs typeface="Times New Roman" panose="02020603050405020304" pitchFamily="18" charset="0"/>
              </a:rPr>
              <a:t>Without temperature matching: 4× more false-alarm hours</a:t>
            </a:r>
          </a:p>
        </p:txBody>
      </p:sp>
      <p:sp>
        <p:nvSpPr>
          <p:cNvPr id="52" name="FinalStatement"/>
          <p:cNvSpPr txBox="1"/>
          <p:nvPr/>
        </p:nvSpPr>
        <p:spPr>
          <a:xfrm>
            <a:off x="626444" y="5550000"/>
            <a:ext cx="10939112" cy="650000"/>
          </a:xfrm>
          <a:prstGeom prst="roundRect">
            <a:avLst/>
          </a:prstGeom>
          <a:solidFill>
            <a:srgbClr val="065A82"/>
          </a:solidFill>
          <a:ln>
            <a:noFill/>
          </a:ln>
        </p:spPr>
        <p:txBody>
          <a:bodyPr wrap="square" anchor="ctr" lIns="182880" rIns="182880">
            <a:normAutofit/>
          </a:bodyPr>
          <a:lstStyle/>
          <a:p>
            <a:pPr algn="ctr"/>
            <a:r>
              <a:rPr lang="en-US" sz="1500" b="1" i="1" dirty="0">
                <a:solidFill>
                  <a:srgbClr val="FFFFFF"/>
                </a:solidFill>
                <a:latin typeface="Times New Roman" panose="02020603050405020304" pitchFamily="18" charset="0"/>
                <a:cs typeface="Times New Roman" panose="02020603050405020304" pitchFamily="18" charset="0"/>
              </a:rPr>
              <a:t>ShiftGuard cuts false alarms by more than 10× and tells damage, weather and broken sensors apart, on simulated and real bridge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One Monitored Year at a Glance</a:t>
            </a:r>
            <a:endParaRPr lang="en-IN" dirty="0"/>
          </a:p>
        </p:txBody>
      </p:sp>
      <p:sp>
        <p:nvSpPr>
          <p:cNvPr id="3" name="Content Placeholder 2"/>
          <p:cNvSpPr>
            <a:spLocks noGrp="1"/>
          </p:cNvSpPr>
          <p:nvPr>
            <p:ph idx="1"/>
          </p:nvPr>
        </p:nvSpPr>
        <p:spPr>
          <a:xfrm>
            <a:off x="217715" y="5715000"/>
            <a:ext cx="11713028" cy="548640"/>
          </a:xfrm>
        </p:spPr>
        <p:txBody>
          <a:bodyPr>
            <a:noAutofit/>
          </a:bodyPr>
          <a:lstStyle/>
          <a:p>
            <a:pPr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Top: weather and injected events. Middle: the old method fires all year. Bottom: ShiftGuard raises few alarms, and each names its cause.</a:t>
            </a:r>
          </a:p>
        </p:txBody>
      </p:sp>
      <p:sp>
        <p:nvSpPr>
          <p:cNvPr id="7" name="Slide Number Placeholder 6"/>
          <p:cNvSpPr>
            <a:spLocks noGrp="1"/>
          </p:cNvSpPr>
          <p:nvPr>
            <p:ph type="sldNum" sz="quarter" idx="12"/>
          </p:nvPr>
        </p:nvSpPr>
        <p:spPr/>
        <p:txBody>
          <a:bodyPr/>
          <a:lstStyle/>
          <a:p>
            <a:r>
              <a:rPr lang="en-US"/>
              <a:t>8</a:t>
            </a:r>
            <a:endParaRPr lang="en-US"/>
          </a:p>
        </p:txBody>
      </p:sp>
      <p:sp>
        <p:nvSpPr>
          <p:cNvPr id="8" name="Date Placeholder 7"/>
          <p:cNvSpPr>
            <a:spLocks noGrp="1"/>
          </p:cNvSpPr>
          <p:nvPr>
            <p:ph type="dt" sz="half" idx="10"/>
          </p:nvPr>
        </p:nvSpPr>
        <p:spPr/>
        <p:txBody>
          <a:bodyPr/>
          <a:lstStyle/>
          <a:p>
            <a:r>
              <a:rPr lang="en-US"/>
              <a:t>October 2026</a:t>
            </a:r>
          </a:p>
        </p:txBody>
      </p:sp>
      <p:pic>
        <p:nvPicPr>
          <p:cNvPr id="9" name="Timeline figure" descr="timeline.png"/>
          <p:cNvPicPr>
            <a:picLocks noChangeAspect="1"/>
          </p:cNvPicPr>
          <p:nvPr/>
        </p:nvPicPr>
        <p:blipFill>
          <a:blip r:embed="rId2"/>
          <a:stretch>
            <a:fillRect/>
          </a:stretch>
        </p:blipFill>
        <p:spPr>
          <a:xfrm>
            <a:off x="2834640" y="777240"/>
            <a:ext cx="6522720" cy="4892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0370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Limitations and Next Steps</a:t>
            </a:r>
            <a:endParaRPr lang="en-IN" dirty="0"/>
          </a:p>
        </p:txBody>
      </p:sp>
      <p:sp>
        <p:nvSpPr>
          <p:cNvPr id="3" name="Content Placeholder 2"/>
          <p:cNvSpPr>
            <a:spLocks noGrp="1"/>
          </p:cNvSpPr>
          <p:nvPr>
            <p:ph idx="1"/>
          </p:nvPr>
        </p:nvSpPr>
        <p:spPr>
          <a:xfrm>
            <a:off x="217715" y="828169"/>
            <a:ext cx="11713028" cy="5710743"/>
          </a:xfrm>
        </p:spPr>
        <p:txBody>
          <a:bodyPr>
            <a:noAutofit/>
          </a:bodyPr>
          <a:lstStyle/>
          <a:p>
            <a:pPr algn="l">
              <a:spcBef>
                <a:spcPts val="900"/>
              </a:spcBef>
              <a:buNone/>
            </a:pPr>
            <a:r>
              <a:rPr lang="en-US" sz="2200" b="1" dirty="0">
                <a:solidFill>
                  <a:srgbClr val="065A82"/>
                </a:solidFill>
                <a:latin typeface="Times New Roman" panose="02020603050405020304" pitchFamily="18" charset="0"/>
                <a:cs typeface="Times New Roman" panose="02020603050405020304" pitchFamily="18" charset="0"/>
              </a:rPr>
              <a:t>Honest limitations</a:t>
            </a:r>
          </a:p>
          <a:p>
            <a:pPr algn="l">
              <a:spcBef>
                <a:spcPts val="900"/>
              </a:spcBef>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On real Z24 data, only severe damage is detected so far; moderate damage is missed.</a:t>
            </a:r>
          </a:p>
          <a:p>
            <a:pPr algn="l">
              <a:spcBef>
                <a:spcPts val="900"/>
              </a:spcBef>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The guarantee assumes healthy hours are interchangeable. Real hours are correlated, so we see a few false-alarm episodes a year, not zero.</a:t>
            </a:r>
          </a:p>
          <a:p>
            <a:pPr algn="l">
              <a:spcBef>
                <a:spcPts val="900"/>
              </a:spcBef>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Handles one broken sensor at a time.</a:t>
            </a:r>
          </a:p>
          <a:p>
            <a:pPr algn="l">
              <a:spcBef>
                <a:spcPts val="900"/>
              </a:spcBef>
              <a:buNone/>
            </a:pPr>
            <a:r>
              <a:rPr lang="en-US" sz="2200" b="1" dirty="0">
                <a:solidFill>
                  <a:srgbClr val="065A82"/>
                </a:solidFill>
                <a:latin typeface="Times New Roman" panose="02020603050405020304" pitchFamily="18" charset="0"/>
                <a:cs typeface="Times New Roman" panose="02020603050405020304" pitchFamily="18" charset="0"/>
              </a:rPr>
              <a:t>Next steps</a:t>
            </a:r>
          </a:p>
          <a:p>
            <a:pPr algn="l">
              <a:spcBef>
                <a:spcPts val="900"/>
              </a:spcBef>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Use the full Z24 sensor layouts and modal (frequency) features to catch moderate damage.</a:t>
            </a:r>
          </a:p>
          <a:p>
            <a:pPr algn="l">
              <a:spcBef>
                <a:spcPts val="900"/>
              </a:spcBef>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Put a real ESP32 sensor node in the loop.</a:t>
            </a:r>
          </a:p>
          <a:p>
            <a:pPr algn="l">
              <a:spcBef>
                <a:spcPts val="900"/>
              </a:spcBef>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Finalise and submit the paper (IEEE format).</a:t>
            </a:r>
          </a:p>
        </p:txBody>
      </p:sp>
      <p:sp>
        <p:nvSpPr>
          <p:cNvPr id="7" name="Slide Number Placeholder 6"/>
          <p:cNvSpPr>
            <a:spLocks noGrp="1"/>
          </p:cNvSpPr>
          <p:nvPr>
            <p:ph type="sldNum" sz="quarter" idx="12"/>
          </p:nvPr>
        </p:nvSpPr>
        <p:spPr/>
        <p:txBody>
          <a:bodyPr/>
          <a:lstStyle/>
          <a:p>
            <a:r>
              <a:rPr lang="en-US"/>
              <a:t>9</a:t>
            </a:r>
            <a:endParaRPr lang="en-US"/>
          </a:p>
        </p:txBody>
      </p:sp>
      <p:sp>
        <p:nvSpPr>
          <p:cNvPr id="8" name="Date Placeholder 7"/>
          <p:cNvSpPr>
            <a:spLocks noGrp="1"/>
          </p:cNvSpPr>
          <p:nvPr>
            <p:ph type="dt" sz="half" idx="10"/>
          </p:nvPr>
        </p:nvSpPr>
        <p:spPr/>
        <p:txBody>
          <a:bodyPr/>
          <a:lstStyle/>
          <a:p>
            <a:r>
              <a:rPr lang="en-US"/>
              <a:t>October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stretch>
            <a:fillRect/>
          </a:stretch>
        </p:blipFill>
        <p:spPr>
          <a:xfrm>
            <a:off x="3017253" y="3248372"/>
            <a:ext cx="6157494" cy="1505843"/>
          </a:xfrm>
          <a:prstGeom prst="rect">
            <a:avLst/>
          </a:prstGeom>
        </p:spPr>
      </p:pic>
      <p:sp>
        <p:nvSpPr>
          <p:cNvPr id="9" name="Slide Number Placeholder 8"/>
          <p:cNvSpPr>
            <a:spLocks noGrp="1"/>
          </p:cNvSpPr>
          <p:nvPr>
            <p:ph type="sldNum" sz="quarter" idx="12"/>
          </p:nvPr>
        </p:nvSpPr>
        <p:spPr/>
        <p:txBody>
          <a:bodyPr/>
          <a:lstStyle/>
          <a:p>
            <a:r>
              <a:rPr lang="en-US"/>
              <a:t>10</a:t>
            </a:r>
            <a:endParaRPr lang="en-US"/>
          </a:p>
        </p:txBody>
      </p:sp>
      <p:sp>
        <p:nvSpPr>
          <p:cNvPr id="10" name="Date Placeholder 9"/>
          <p:cNvSpPr>
            <a:spLocks noGrp="1"/>
          </p:cNvSpPr>
          <p:nvPr>
            <p:ph type="dt" sz="half" idx="10"/>
          </p:nvPr>
        </p:nvSpPr>
        <p:spPr/>
        <p:txBody>
          <a:bodyPr/>
          <a:lstStyle/>
          <a:p>
            <a:r>
              <a:rPr lang="en-US"/>
              <a:t>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107</Words>
  <Application>Microsoft Office PowerPoint</Application>
  <PresentationFormat>Widescreen</PresentationFormat>
  <Paragraphs>50</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ElsevierSans</vt:lpstr>
      <vt:lpstr>Times New Roman</vt:lpstr>
      <vt:lpstr>Wingdings</vt:lpstr>
      <vt:lpstr>Office Theme</vt:lpstr>
      <vt:lpstr>Titlle</vt:lpstr>
      <vt:lpstr>Abstract </vt:lpstr>
      <vt:lpstr>Introduction </vt:lpstr>
      <vt:lpstr>PowerPoint Presentation</vt:lpstr>
      <vt:lpstr>Literature Review </vt:lpstr>
      <vt:lpstr>PowerPoint Presentation</vt:lpstr>
      <vt:lpstr>Proposed work -Explanation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proposed work</dc:title>
  <dc:creator>mani iz</dc:creator>
  <cp:lastModifiedBy>Saravanan P</cp:lastModifiedBy>
  <cp:revision>300</cp:revision>
  <dcterms:created xsi:type="dcterms:W3CDTF">2022-09-13T08:56:00Z</dcterms:created>
  <dcterms:modified xsi:type="dcterms:W3CDTF">2026-08-07T04:42:22Z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D08F9FAA6B7E4AE58517ED9850002E9F_12</vt:lpwstr>
  </property>
  <property fmtid="{D5CDD505-2E9C-101B-9397-08002B2CF9AE}" pid="3" name="KSOProductBuildVer">
    <vt:lpwstr>1033-12.1.0.27458</vt:lpwstr>
  </property>
</Properties>
</file>