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2"/>
  </p:notesMasterIdLst>
  <p:sldIdLst>
    <p:sldId id="256" r:id="rId2"/>
    <p:sldId id="311" r:id="rId19"/>
    <p:sldId id="306" r:id="rId3"/>
    <p:sldId id="293" r:id="rId4"/>
    <p:sldId id="312" r:id="rId20"/>
    <p:sldId id="289" r:id="rId5"/>
    <p:sldId id="290" r:id="rId6"/>
    <p:sldId id="309" r:id="rId17"/>
    <p:sldId id="310" r:id="rId18"/>
    <p:sldId id="313" r:id="rId21"/>
    <p:sldId id="314" r:id="rId22"/>
    <p:sldId id="266" r:id="rId7"/>
    <p:sldId id="279" r:id="rId8"/>
    <p:sldId id="308" r:id="rId9"/>
    <p:sldId id="283" r:id="rId10"/>
    <p:sldId id="30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5FC79"/>
    <a:srgbClr val="73FEFF"/>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669"/>
  </p:normalViewPr>
  <p:slideViewPr>
    <p:cSldViewPr snapToGrid="0" snapToObjects="1" showGuides="1">
      <p:cViewPr varScale="1">
        <p:scale>
          <a:sx n="58" d="100"/>
          <a:sy n="58" d="100"/>
        </p:scale>
        <p:origin x="928" y="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3DA0E-D1FD-BC4E-848A-CADAF0C17C7F}"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DB9C3-3AFD-454D-9BAE-9D714207E35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4FDB9C3-3AFD-454D-9BAE-9D714207E35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4FDB9C3-3AFD-454D-9BAE-9D714207E35B}"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r>
              <a:rPr lang="en-US"/>
              <a:t>29 July 2026</a:t>
            </a:r>
          </a:p>
        </p:txBody>
      </p:sp>
      <p:sp>
        <p:nvSpPr>
          <p:cNvPr id="8" name="Footer Placeholder 7"/>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9" name="Slide Number Placeholder 8"/>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r>
              <a:rPr lang="en-US"/>
              <a:t>29 July 2026</a:t>
            </a:r>
          </a:p>
        </p:txBody>
      </p:sp>
      <p:sp>
        <p:nvSpPr>
          <p:cNvPr id="4" name="Footer Placeholder 3"/>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5" name="Slide Number Placeholder 4"/>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29 July 2026</a:t>
            </a:r>
          </a:p>
        </p:txBody>
      </p:sp>
      <p:sp>
        <p:nvSpPr>
          <p:cNvPr id="3" name="Footer Placeholder 2"/>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4" name="Slide Number Placeholder 3"/>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29 July 2026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3A235-9A1B-814A-A45F-231E0934496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hyperlink" Target="https://bwk.kuleuven.be/bwm/z24" TargetMode="External"/><Relationship Id="rId2" Type="http://schemas.openxmlformats.org/officeDocument/2006/relationships/hyperlink" Target="https://huggingface.co/datasets/thanglexuan/Z24-dataset-processed"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wk.kuleuven.be/bwm/z24" TargetMode="External"/><Relationship Id="rId3" Type="http://schemas.openxmlformats.org/officeDocument/2006/relationships/hyperlink" Target="https://huggingface.co/datasets/thanglexuan/Z24-dataset-process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p:cNvSpPr>
            <a:spLocks noGrp="1" noRot="1" noChangeAspect="1" noMove="1" noResize="1" noEditPoints="1" noAdjustHandles="1" noChangeArrowheads="1" noChangeShapeType="1" noTextEdit="1"/>
          </p:cNvSpPr>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圖片 9" descr="Logo, company name&#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5438" y="461286"/>
            <a:ext cx="5748242" cy="2967714"/>
          </a:xfrm>
          <a:prstGeom prst="rect">
            <a:avLst/>
          </a:prstGeom>
        </p:spPr>
      </p:pic>
      <p:pic>
        <p:nvPicPr>
          <p:cNvPr id="5" name="Picture 4" descr="Text&#10;&#10;Description automatically generated with low confidence"/>
          <p:cNvPicPr>
            <a:picLocks noChangeAspect="1"/>
          </p:cNvPicPr>
          <p:nvPr/>
        </p:nvPicPr>
        <p:blipFill>
          <a:blip r:embed="rId4" cstate="print"/>
          <a:srcRect l="12259" t="15730" r="39436" b="26966"/>
          <a:stretch>
            <a:fillRect/>
          </a:stretch>
        </p:blipFill>
        <p:spPr>
          <a:xfrm>
            <a:off x="5785719" y="3239411"/>
            <a:ext cx="5127680" cy="2732348"/>
          </a:xfrm>
          <a:prstGeom prst="rect">
            <a:avLst/>
          </a:prstGeom>
        </p:spPr>
      </p:pic>
      <p:sp>
        <p:nvSpPr>
          <p:cNvPr id="2" name="Title 1"/>
          <p:cNvSpPr>
            <a:spLocks noGrp="1"/>
          </p:cNvSpPr>
          <p:nvPr>
            <p:ph type="ctrTitle"/>
          </p:nvPr>
        </p:nvSpPr>
        <p:spPr>
          <a:xfrm>
            <a:off x="336884" y="791807"/>
            <a:ext cx="4279196" cy="1752189"/>
          </a:xfrm>
        </p:spPr>
        <p:txBody>
          <a:bodyPr>
            <a:noAutofit/>
          </a:bodyPr>
          <a:lstStyle/>
          <a:p>
            <a:pPr algn="l">
              <a:spcBef>
                <a:spcPts val="1000"/>
              </a:spcBef>
            </a:pPr>
            <a:r>
              <a:rPr lang="en-GB" sz="2800" b="1" dirty="0" err="1">
                <a:solidFill>
                  <a:srgbClr val="FFFFFF"/>
                </a:solidFill>
                <a:latin typeface="Times New Roman" panose="02020603050405020304" pitchFamily="18" charset="0"/>
                <a:ea typeface="+mn-ea"/>
                <a:cs typeface="Times New Roman" panose="02020603050405020304" pitchFamily="18" charset="0"/>
              </a:rPr>
              <a:t>AIoT-Based Structural Health Monitoring System</a:t>
            </a:r>
            <a:endParaRPr lang="en-GB" sz="2800" b="1" dirty="0">
              <a:solidFill>
                <a:srgbClr val="FFFFFF"/>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255119" y="2950000"/>
            <a:ext cx="4332307" cy="3500000"/>
          </a:xfrm>
        </p:spPr>
        <p:txBody>
          <a:bodyPr>
            <a:noAutofit/>
          </a:bodyPr>
          <a:lstStyle/>
          <a:p>
            <a:r>
              <a:rPr lang="en-US" sz="1600" b="1" dirty="0">
                <a:solidFill>
                  <a:srgbClr val="FFFFFF"/>
                </a:solidFill>
                <a:latin typeface="Times New Roman" panose="02020603050405020304" pitchFamily="18" charset="0"/>
                <a:cs typeface="Times New Roman" panose="02020603050405020304" pitchFamily="18" charset="0"/>
              </a:rPr>
              <a:t>Team Members</a:t>
            </a:r>
          </a:p>
          <a:p>
            <a:r>
              <a:rPr lang="en-US" sz="1400" dirty="0">
                <a:solidFill>
                  <a:srgbClr val="FFFFFF"/>
                </a:solidFill>
                <a:latin typeface="Times New Roman" panose="02020603050405020304" pitchFamily="18" charset="0"/>
                <a:cs typeface="Times New Roman" panose="02020603050405020304" pitchFamily="18" charset="0"/>
              </a:rPr>
              <a:t>1. Hardik Grover (RA2311003011356)</a:t>
            </a:r>
          </a:p>
          <a:p>
            <a:r>
              <a:rPr lang="en-US" sz="1400" dirty="0">
                <a:solidFill>
                  <a:srgbClr val="FFFFFF"/>
                </a:solidFill>
                <a:latin typeface="Times New Roman" panose="02020603050405020304" pitchFamily="18" charset="0"/>
                <a:cs typeface="Times New Roman" panose="02020603050405020304" pitchFamily="18" charset="0"/>
              </a:rPr>
              <a:t>2. Team Member 2 (RA Number)</a:t>
            </a:r>
          </a:p>
          <a:p>
            <a:r>
              <a:rPr lang="en-US" sz="1400" dirty="0">
                <a:solidFill>
                  <a:srgbClr val="FFFFFF"/>
                </a:solidFill>
                <a:latin typeface="Times New Roman" panose="02020603050405020304" pitchFamily="18" charset="0"/>
                <a:cs typeface="Times New Roman" panose="02020603050405020304" pitchFamily="18" charset="0"/>
              </a:rPr>
              <a:t>3. Team Member 3 (RA Number)</a:t>
            </a:r>
          </a:p>
          <a:p>
            <a:r>
              <a:rPr lang="en-US" sz="1400" dirty="0">
                <a:solidFill>
                  <a:srgbClr val="FFFFFF"/>
                </a:solidFill>
                <a:latin typeface="Times New Roman" panose="02020603050405020304" pitchFamily="18" charset="0"/>
                <a:cs typeface="Times New Roman" panose="02020603050405020304" pitchFamily="18" charset="0"/>
              </a:rPr>
              <a:t>4. Team Member 4 (RA Number)</a:t>
            </a:r>
          </a:p>
          <a:p>
            <a:r>
              <a:rPr lang="en-US" sz="1400" dirty="0">
                <a:solidFill>
                  <a:srgbClr val="FFFFFF"/>
                </a:solidFill>
                <a:latin typeface="Times New Roman" panose="02020603050405020304" pitchFamily="18" charset="0"/>
                <a:cs typeface="Times New Roman" panose="02020603050405020304" pitchFamily="18" charset="0"/>
              </a:rPr>
              <a:t>5. Team Member 5 (RA Number)</a:t>
            </a:r>
          </a:p>
          <a:p>
            <a:endParaRPr lang="en-US" sz="700" dirty="0">
              <a:solidFill>
                <a:srgbClr val="FFFFFF"/>
              </a:solidFill>
              <a:latin typeface="Times New Roman" panose="02020603050405020304" pitchFamily="18" charset="0"/>
              <a:cs typeface="Times New Roman" panose="02020603050405020304" pitchFamily="18" charset="0"/>
            </a:endParaRPr>
          </a:p>
          <a:p>
            <a:r>
              <a:rPr lang="en-US" sz="1400" b="1" dirty="0">
                <a:solidFill>
                  <a:srgbClr val="FFFFFF"/>
                </a:solidFill>
                <a:latin typeface="Times New Roman" panose="02020603050405020304" pitchFamily="18" charset="0"/>
                <a:cs typeface="Times New Roman" panose="02020603050405020304" pitchFamily="18" charset="0"/>
              </a:rPr>
              <a:t>Supervisor Name:</a:t>
            </a:r>
          </a:p>
          <a:p>
            <a:r>
              <a:rPr lang="en-US" sz="1400" dirty="0">
                <a:solidFill>
                  <a:srgbClr val="FFFFFF"/>
                </a:solidFill>
                <a:latin typeface="Times New Roman" panose="02020603050405020304" pitchFamily="18" charset="0"/>
                <a:cs typeface="Times New Roman" panose="02020603050405020304" pitchFamily="18" charset="0"/>
              </a:rPr>
              <a:t>Dr. P. Saravanan, M.E., Ph.D.</a:t>
            </a:r>
          </a:p>
          <a:p>
            <a:r>
              <a:rPr lang="en-US" sz="1400" dirty="0">
                <a:solidFill>
                  <a:srgbClr val="FFFFFF"/>
                </a:solidFill>
                <a:latin typeface="Times New Roman" panose="02020603050405020304" pitchFamily="18" charset="0"/>
                <a:cs typeface="Times New Roman" panose="02020603050405020304" pitchFamily="18" charset="0"/>
              </a:rPr>
              <a:t>Department: CTECH</a:t>
            </a:r>
          </a:p>
          <a:p>
            <a:endParaRPr lang="en-US" sz="700" dirty="0">
              <a:solidFill>
                <a:srgbClr val="FFFFFF"/>
              </a:solidFill>
              <a:latin typeface="Times New Roman" panose="02020603050405020304" pitchFamily="18" charset="0"/>
              <a:cs typeface="Times New Roman" panose="02020603050405020304" pitchFamily="18" charset="0"/>
            </a:endParaRPr>
          </a:p>
          <a:p>
            <a:r>
              <a:rPr lang="en-US" sz="1400" b="1" dirty="0">
                <a:solidFill>
                  <a:srgbClr val="FFFFFF"/>
                </a:solidFill>
                <a:latin typeface="Times New Roman" panose="02020603050405020304" pitchFamily="18" charset="0"/>
                <a:cs typeface="Times New Roman" panose="02020603050405020304" pitchFamily="18" charset="0"/>
              </a:rPr>
              <a:t>Zeroth Review</a:t>
            </a:r>
            <a:r>
              <a:rPr lang="en-US" sz="1400" dirty="0">
                <a:solidFill>
                  <a:srgbClr val="FFFFFF"/>
                </a:solidFill>
                <a:latin typeface="Times New Roman" panose="02020603050405020304" pitchFamily="18" charset="0"/>
                <a:cs typeface="Times New Roman" panose="02020603050405020304" pitchFamily="18" charset="0"/>
              </a:rPr>
              <a:t xml:space="preserve"> | 31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524" y="136525"/>
            <a:ext cx="10515600" cy="644735"/>
          </a:xfrm>
        </p:spPr>
        <p:txBody>
          <a:bodyPr>
            <a:noAutofit/>
          </a:bodyPr>
          <a:lstStyle/>
          <a:p>
            <a:pPr algn="ctr"/>
            <a:r>
              <a:rPr lang="en-US" sz="4000" b="1" dirty="0">
                <a:latin typeface="Times New Roman" panose="02020603050405020304" pitchFamily="18" charset="0"/>
                <a:cs typeface="Times New Roman" panose="02020603050405020304" pitchFamily="18" charset="0"/>
              </a:rPr>
              <a:t>Abstract</a:t>
            </a:r>
            <a:r>
              <a:rPr lang="en-US" sz="4000" b="1" dirty="0"/>
              <a:t> </a:t>
            </a:r>
            <a:endParaRPr lang="en-IN" sz="4000" b="1" dirty="0"/>
          </a:p>
        </p:txBody>
      </p:sp>
      <p:sp>
        <p:nvSpPr>
          <p:cNvPr id="10" name="Content Placeholder 2"/>
          <p:cNvSpPr>
            <a:spLocks noGrp="1"/>
          </p:cNvSpPr>
          <p:nvPr>
            <p:ph idx="1"/>
          </p:nvPr>
        </p:nvSpPr>
        <p:spPr>
          <a:xfrm>
            <a:off x="261257" y="1032086"/>
            <a:ext cx="11658600" cy="5575089"/>
          </a:xfrm>
        </p:spPr>
        <p:txBody>
          <a:bodyPr>
            <a:normAutofit/>
          </a:bodyPr>
          <a:lstStyle/>
          <a:p>
            <a:pPr lvl="0" algn="just"/>
            <a:r>
              <a:rPr lang="en-US" sz="2000" dirty="0">
                <a:latin typeface="Times New Roman" panose="02020603050405020304" pitchFamily="18" charset="0"/>
                <a:cs typeface="Times New Roman" panose="02020603050405020304" pitchFamily="18" charset="0"/>
              </a:rPr>
              <a:t>Structural Health Monitoring (SHM) is essential for the early detection of damage in civil and mechanical structures such as buildings, bridges, and industrial installations, where periodic manual inspection is costly, infrequent, and often subjective. This project proposes an AIoT-Based Structural Health Monitoring System that combines low-cost IoT sensors — accelerometers, strain gauges, and tiltmeters — with Artificial Intelligence to enable continuous, automated, real-time assessment of structural condition. Sensor data is transmitted through an IoT gateway to an edge/cloud analytics layer, where signal preprocessing, feature extraction, and a machine-learning-based anomaly/damage-detection model identify deviations from normal structural behaviour. Detected anomalies are visualised on a live dashboard and trigger automatic alerts to maintenance engineers. The proposed approach will be conceptually validated using the Z24 Bridge benchmark dataset, a widely used public vibration-monitoring dataset covering progressive structural damage. This Zeroth Review presents the problem statement, a survey of recent AIoT/IoT-based SHM literature, the proposed system workflow, and the expected functional and research outcomes of the prototype.</a:t>
            </a:r>
          </a:p>
        </p:txBody>
      </p:sp>
      <p:sp>
        <p:nvSpPr>
          <p:cNvPr id="5" name="Slide Number Placeholder 4"/>
          <p:cNvSpPr>
            <a:spLocks noGrp="1"/>
          </p:cNvSpPr>
          <p:nvPr>
            <p:ph type="sldNum" sz="quarter" idx="12"/>
          </p:nvPr>
        </p:nvSpPr>
        <p:spPr/>
        <p:txBody>
          <a:bodyPr/>
          <a:lstStyle/>
          <a:p>
            <a:fld id="{B6D3A235-9A1B-814A-A45F-231E09344964}" type="slidenum">
              <a:rPr lang="en-US" smtClean="0"/>
              <a:t>2</a:t>
            </a:fld>
            <a:endParaRPr lang="en-US"/>
          </a:p>
        </p:txBody>
      </p:sp>
      <p:sp>
        <p:nvSpPr>
          <p:cNvPr id="7" name="Date Placeholder 6"/>
          <p:cNvSpPr>
            <a:spLocks noGrp="1"/>
          </p:cNvSpPr>
          <p:nvPr>
            <p:ph type="dt" sz="half" idx="10"/>
          </p:nvPr>
        </p:nvSpPr>
        <p:spPr/>
        <p:txBody>
          <a:bodyPr/>
          <a:lstStyle/>
          <a:p>
            <a:r>
              <a:rPr lang="en-US"/>
              <a:t>31 August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Motivation</a:t>
            </a:r>
            <a:r>
              <a:rPr lang="en-US" dirty="0"/>
              <a:t> </a:t>
            </a:r>
            <a:endParaRPr lang="en-IN" dirty="0"/>
          </a:p>
        </p:txBody>
      </p:sp>
      <p:sp>
        <p:nvSpPr>
          <p:cNvPr id="3" name="Content Placeholder 2"/>
          <p:cNvSpPr>
            <a:spLocks noGrp="1"/>
          </p:cNvSpPr>
          <p:nvPr>
            <p:ph idx="1"/>
          </p:nvPr>
        </p:nvSpPr>
        <p:spPr>
          <a:xfrm>
            <a:off x="217715" y="828169"/>
            <a:ext cx="11713028" cy="5710743"/>
          </a:xfrm>
        </p:spPr>
        <p:txBody>
          <a:bodyPr>
            <a:noAutofit/>
          </a:bodyPr>
          <a:lstStyle/>
          <a:p>
            <a:pPr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number of connected IoT devices is projected to grow from about 21 billion in 2025 to nearly 39 billion by 2030, showing how quickly sensor-based monitoring is becoming mainstream. Applying this growth to civil infrastructure can make structural monitoring far more accessible and affordable than before.</a:t>
            </a:r>
          </a:p>
          <a:p>
            <a:pPr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Bridges, buildings, and industrial structures naturally degrade due to age, weather, and repeated loading, and this process is often invisible to the naked eye. Left unmonitored, minor issues can silently escalate into major structural risks.</a:t>
            </a:r>
          </a:p>
          <a:p>
            <a:pPr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Artificial Intelligence can learn what ‘normal’ structural behaviour looks like from sensor data and automatically flag unusual patterns that may indicate damage. This removes the need for fixed, manually-set thresholds that often miss subtle or unexpected changes.</a:t>
            </a:r>
          </a:p>
          <a:p>
            <a:pPr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Combining IoT and AI (AIoT) creates a monitoring system that is always watching, reacts quickly, and improves over time as more data is collected. This is the core motivation behind building an AIoT-based Structural Health Monitoring System.</a:t>
            </a:r>
          </a:p>
        </p:txBody>
      </p:sp>
      <p:sp>
        <p:nvSpPr>
          <p:cNvPr id="7" name="Slide Number Placeholder 6"/>
          <p:cNvSpPr>
            <a:spLocks noGrp="1"/>
          </p:cNvSpPr>
          <p:nvPr>
            <p:ph type="sldNum" sz="quarter" idx="12"/>
          </p:nvPr>
        </p:nvSpPr>
        <p:spPr/>
        <p:txBody>
          <a:bodyPr/>
          <a:lstStyle/>
          <a:p>
            <a:fld id="{B6D3A235-9A1B-814A-A45F-231E09344964}" type="slidenum">
              <a:rPr lang="en-US" smtClean="0"/>
              <a:t>3</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14354" y="900000"/>
          <a:ext cx="11559939" cy="4900000"/>
        </p:xfrm>
        <a:graphic>
          <a:graphicData uri="http://schemas.openxmlformats.org/drawingml/2006/table">
            <a:tbl>
              <a:tblPr firstRow="1" bandRow="1">
                <a:tableStyleId>{5C22544A-7EE6-4342-B048-85BDC9FD1C3A}</a:tableStyleId>
              </a:tblPr>
              <a:tblGrid>
                <a:gridCol w="500000"/>
                <a:gridCol w="3200000"/>
                <a:gridCol w="2800000"/>
                <a:gridCol w="2500000"/>
                <a:gridCol w="2559939"/>
              </a:tblGrid>
              <a:tr h="0">
                <a:tc>
                  <a:txBody>
                    <a:bodyPr/>
                    <a:lstStyle/>
                    <a:p>
                      <a:pPr algn="ctr"/>
                      <a:r>
                        <a:rPr lang="en-US" sz="1900" dirty="0">
                          <a:latin typeface="Times New Roman" panose="02020603050405020304" pitchFamily="18" charset="0"/>
                          <a:cs typeface="Times New Roman" panose="02020603050405020304" pitchFamily="18" charset="0"/>
                        </a:rPr>
                        <a:t>S.No</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Paper Name, Journal, Author, Year</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Methodology</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Result (Quantified)</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Problem / Gap Identified</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1.</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“A Survey of Structural Health Monitoring Advances Based on IoT Sensors”</a:t>
                      </a:r>
                    </a:p>
                    <a:p>
                      <a:pPr algn="just">
                        <a:buNone/>
                      </a:pPr>
                      <a:r>
                        <a:rPr lang="en-US" sz="1200" dirty="0">
                          <a:latin typeface="Times New Roman" panose="02020603050405020304" pitchFamily="18" charset="0"/>
                          <a:cs typeface="Times New Roman" panose="02020603050405020304" pitchFamily="18" charset="0"/>
                        </a:rPr>
                        <a:t>IJACSA, Deng &amp; Chen, 2023</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Structured literature survey of IoT sensor types and SHM methods for civil structures.</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Review paper synthesising many studies — no single model accuracy reported.</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Survey-level only; does not propose or test a specific deployable AI model.</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2.</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“IoT in Structural Health Monitoring: A Decade of Research Trends”</a:t>
                      </a:r>
                    </a:p>
                    <a:p>
                      <a:pPr algn="just">
                        <a:buNone/>
                      </a:pPr>
                      <a:r>
                        <a:rPr lang="en-US" sz="1200" dirty="0">
                          <a:latin typeface="Times New Roman" panose="02020603050405020304" pitchFamily="18" charset="0"/>
                          <a:cs typeface="Times New Roman" panose="02020603050405020304" pitchFamily="18" charset="0"/>
                        </a:rPr>
                        <a:t>IIETA, Rahita et al., 2024</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Bibliometric review of 170 IoT-based SHM studies published 2013–2024.</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Quantifies research trends across 170 papers — no single model accuracy reported.</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Descriptive trend analysis only; no implementable algorithm or system design.</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3.</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“Structural Health Monitoring: Advanced Sensing, Diagnostics and Prognostics”</a:t>
                      </a:r>
                    </a:p>
                    <a:p>
                      <a:pPr algn="just">
                        <a:buNone/>
                      </a:pPr>
                      <a:r>
                        <a:rPr lang="en-US" sz="1200" dirty="0">
                          <a:latin typeface="Times New Roman" panose="02020603050405020304" pitchFamily="18" charset="0"/>
                          <a:cs typeface="Times New Roman" panose="02020603050405020304" pitchFamily="18" charset="0"/>
                        </a:rPr>
                        <a:t>Sensors, Li, Li &amp; Noman, 2025</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Editorial overview of SHM across aeronautical, civil, and mechanical domains.</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Cross-domain synthesis of SHM research — no single model accuracy reported.</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General overview; not focused on a specific IoT/edge implementation.</a:t>
                      </a:r>
                    </a:p>
                  </a:txBody>
                  <a:tcPr anchor="ctr"/>
                </a:tc>
              </a:tr>
            </a:tbl>
          </a:graphicData>
        </a:graphic>
      </p:graphicFrame>
      <p:sp>
        <p:nvSpPr>
          <p:cNvPr id="3" name="Title 1"/>
          <p:cNvSpPr txBox="1"/>
          <p:nvPr/>
        </p:nvSpPr>
        <p:spPr>
          <a:xfrm>
            <a:off x="1971903" y="136524"/>
            <a:ext cx="8244840" cy="6967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Literature Review</a:t>
            </a:r>
          </a:p>
        </p:txBody>
      </p:sp>
      <p:sp>
        <p:nvSpPr>
          <p:cNvPr id="5" name="Slide Number Placeholder 4"/>
          <p:cNvSpPr>
            <a:spLocks noGrp="1"/>
          </p:cNvSpPr>
          <p:nvPr>
            <p:ph type="sldNum" sz="quarter" idx="12"/>
          </p:nvPr>
        </p:nvSpPr>
        <p:spPr/>
        <p:txBody>
          <a:bodyPr/>
          <a:lstStyle/>
          <a:p>
            <a:fld id="{B6D3A235-9A1B-814A-A45F-231E09344964}" type="slidenum">
              <a:rPr lang="en-US" smtClean="0"/>
              <a:t>4</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nvPr>
        </p:nvGraphicFramePr>
        <p:xfrm>
          <a:off x="314354" y="900000"/>
          <a:ext cx="11559939" cy="4900000"/>
        </p:xfrm>
        <a:graphic>
          <a:graphicData uri="http://schemas.openxmlformats.org/drawingml/2006/table">
            <a:tbl>
              <a:tblPr firstRow="1" bandRow="1">
                <a:tableStyleId>{5C22544A-7EE6-4342-B048-85BDC9FD1C3A}</a:tableStyleId>
              </a:tblPr>
              <a:tblGrid>
                <a:gridCol w="500000"/>
                <a:gridCol w="3200000"/>
                <a:gridCol w="2800000"/>
                <a:gridCol w="2500000"/>
                <a:gridCol w="2559939"/>
              </a:tblGrid>
              <a:tr h="0">
                <a:tc>
                  <a:txBody>
                    <a:bodyPr/>
                    <a:lstStyle/>
                    <a:p>
                      <a:pPr algn="ctr"/>
                      <a:r>
                        <a:rPr lang="en-US" sz="1900" dirty="0">
                          <a:latin typeface="Times New Roman" panose="02020603050405020304" pitchFamily="18" charset="0"/>
                          <a:cs typeface="Times New Roman" panose="02020603050405020304" pitchFamily="18" charset="0"/>
                        </a:rPr>
                        <a:t>S.No</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Paper Name, Journal, Author, Year</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Methodology</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Result (Quantified)</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Problem / Gap Identified</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4.</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“An AIoT Architecture for Structural Testing (Aerospace Component)”</a:t>
                      </a:r>
                    </a:p>
                    <a:p>
                      <a:pPr algn="just">
                        <a:buNone/>
                      </a:pPr>
                      <a:r>
                        <a:rPr lang="en-US" sz="1200" dirty="0">
                          <a:latin typeface="Times New Roman" panose="02020603050405020304" pitchFamily="18" charset="0"/>
                          <a:cs typeface="Times New Roman" panose="02020603050405020304" pitchFamily="18" charset="0"/>
                        </a:rPr>
                        <a:t>Conference paper, Venegas et al., 2025</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Proposes an AIoT architecture combining wireless IoT devices with AI-based interpretation.</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Successfully validated on a real aerospace certification test; specific accuracy figures not stated in the published abstract.</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Built for aerospace testing; needs adaptation for civil structures.</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5.</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“Structural Health Monitoring Using IoT”</a:t>
                      </a:r>
                    </a:p>
                    <a:p>
                      <a:pPr algn="just">
                        <a:buNone/>
                      </a:pPr>
                      <a:r>
                        <a:rPr lang="en-US" sz="1200" dirty="0">
                          <a:latin typeface="Times New Roman" panose="02020603050405020304" pitchFamily="18" charset="0"/>
                          <a:cs typeface="Times New Roman" panose="02020603050405020304" pitchFamily="18" charset="0"/>
                        </a:rPr>
                        <a:t>IJRPR, Anjali et al., 2025</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Reviews IoT sensors (FOS, GNSS, strain, accelerometer) with AI processing (Kalman, ANN, SVM).</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Reviews multiple deployed pipelines — no single model accuracy reported.</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Reviews multiple systems generally; doesn’t fix one lightweight technique.</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6.</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“Hybrid CAE–DSVDD for Unsupervised Vibration-Based Damage Detection”</a:t>
                      </a:r>
                    </a:p>
                    <a:p>
                      <a:pPr algn="just">
                        <a:buNone/>
                      </a:pPr>
                      <a:r>
                        <a:rPr lang="en-US" sz="1200" dirty="0">
                          <a:latin typeface="Times New Roman" panose="02020603050405020304" pitchFamily="18" charset="0"/>
                          <a:cs typeface="Times New Roman" panose="02020603050405020304" pitchFamily="18" charset="0"/>
                        </a:rPr>
                        <a:t>Structural Health Monitoring, Park &amp; Kim, 2025</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Convolutional autoencoder + deep SVDD trained only on healthy vibration data.</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F1-score = 98.46% under forced vibration on a real damaged truss bridge, consistent even for low-severity damage.</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Training/tuning overhead heavier than a lightweight prototype needs.</a:t>
                      </a:r>
                    </a:p>
                  </a:txBody>
                  <a:tcPr anchor="ctr"/>
                </a:tc>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B6D3A235-9A1B-814A-A45F-231E09344964}" type="slidenum">
              <a:rPr lang="en-US" smtClean="0"/>
              <a:t>6</a:t>
            </a:fld>
            <a:endParaRPr lang="en-US"/>
          </a:p>
        </p:txBody>
      </p:sp>
      <p:sp>
        <p:nvSpPr>
          <p:cNvPr id="15" name="Date Placeholder 14"/>
          <p:cNvSpPr>
            <a:spLocks noGrp="1"/>
          </p:cNvSpPr>
          <p:nvPr>
            <p:ph type="dt" sz="half" idx="10"/>
          </p:nvPr>
        </p:nvSpPr>
        <p:spPr/>
        <p:txBody>
          <a:bodyPr/>
          <a:lstStyle/>
          <a:p>
            <a:r>
              <a:rPr lang="en-US"/>
              <a:t>31 August 2026</a:t>
            </a:r>
          </a:p>
        </p:txBody>
      </p:sp>
      <p:sp>
        <p:nvSpPr>
          <p:cNvPr id="20" name="TitleBox"/>
          <p:cNvSpPr txBox="1"/>
          <p:nvPr/>
        </p:nvSpPr>
        <p:spPr>
          <a:xfrm>
            <a:off x="457200" y="136525"/>
            <a:ext cx="11277600" cy="700000"/>
          </a:xfrm>
          <a:prstGeom prst="rect">
            <a:avLst/>
          </a:prstGeom>
          <a:noFill/>
        </p:spPr>
        <p:txBody>
          <a:bodyPr wrap="square" anchor="ctr">
            <a:noAutofit/>
          </a:bodyPr>
          <a:lstStyle/>
          <a:p>
            <a:pPr algn="ctr"/>
            <a:r>
              <a:rPr lang="en-US" sz="3600" b="1" dirty="0">
                <a:latin typeface="Times New Roman" panose="02020603050405020304" pitchFamily="18" charset="0"/>
                <a:cs typeface="Times New Roman" panose="02020603050405020304" pitchFamily="18" charset="0"/>
              </a:rPr>
              <a:t>Work Flow of Proposed Model</a:t>
            </a:r>
          </a:p>
        </p:txBody>
      </p:sp>
      <p:sp>
        <p:nvSpPr>
          <p:cNvPr id="101" name="FlowBox101"/>
          <p:cNvSpPr/>
          <p:nvPr/>
        </p:nvSpPr>
        <p:spPr>
          <a:xfrm>
            <a:off x="1596000" y="950000"/>
            <a:ext cx="9000000" cy="380000"/>
          </a:xfrm>
          <a:prstGeom prst="roundRect">
            <a:avLst>
              <a:gd name="adj" fmla="val 12000"/>
            </a:avLst>
          </a:prstGeom>
          <a:solidFill>
            <a:srgbClr val="065A8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Z24 Bridge — Accelerometer Vibration Data</a:t>
            </a:r>
          </a:p>
        </p:txBody>
      </p:sp>
      <p:sp>
        <p:nvSpPr>
          <p:cNvPr id="102" name="Arrow102"/>
          <p:cNvSpPr txBox="1"/>
          <p:nvPr/>
        </p:nvSpPr>
        <p:spPr>
          <a:xfrm>
            <a:off x="6006000" y="133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03" name="FlowBox103"/>
          <p:cNvSpPr/>
          <p:nvPr/>
        </p:nvSpPr>
        <p:spPr>
          <a:xfrm>
            <a:off x="1596000" y="1420000"/>
            <a:ext cx="9000000" cy="380000"/>
          </a:xfrm>
          <a:prstGeom prst="roundRect">
            <a:avLst>
              <a:gd name="adj" fmla="val 12000"/>
            </a:avLst>
          </a:prstGeom>
          <a:solidFill>
            <a:srgbClr val="1C7293"/>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Preprocessing &amp; Feature Extraction</a:t>
            </a:r>
          </a:p>
        </p:txBody>
      </p:sp>
      <p:sp>
        <p:nvSpPr>
          <p:cNvPr id="104" name="Arrow104"/>
          <p:cNvSpPr txBox="1"/>
          <p:nvPr/>
        </p:nvSpPr>
        <p:spPr>
          <a:xfrm>
            <a:off x="6006000" y="180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05" name="FlowBox105"/>
          <p:cNvSpPr/>
          <p:nvPr/>
        </p:nvSpPr>
        <p:spPr>
          <a:xfrm>
            <a:off x="1596000" y="1890000"/>
            <a:ext cx="4400000" cy="500000"/>
          </a:xfrm>
          <a:prstGeom prst="roundRect">
            <a:avLst>
              <a:gd name="adj" fmla="val 12000"/>
            </a:avLst>
          </a:prstGeom>
          <a:solidFill>
            <a:srgbClr val="065A8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Autoencoder</a:t>
            </a:r>
          </a:p>
          <a:p>
            <a:pPr algn="ctr"/>
            <a:r>
              <a:rPr lang="en-US" sz="980" dirty="0">
                <a:solidFill>
                  <a:srgbClr val="FFFFFF"/>
                </a:solidFill>
                <a:latin typeface="Calibri"/>
              </a:rPr>
              <a:t>Reconstruction Error / Anomaly Score</a:t>
            </a:r>
          </a:p>
        </p:txBody>
      </p:sp>
      <p:sp>
        <p:nvSpPr>
          <p:cNvPr id="106" name="FlowBox106"/>
          <p:cNvSpPr/>
          <p:nvPr/>
        </p:nvSpPr>
        <p:spPr>
          <a:xfrm>
            <a:off x="6196000" y="1890000"/>
            <a:ext cx="4400000" cy="500000"/>
          </a:xfrm>
          <a:prstGeom prst="roundRect">
            <a:avLst>
              <a:gd name="adj" fmla="val 12000"/>
            </a:avLst>
          </a:prstGeom>
          <a:solidFill>
            <a:srgbClr val="1C7293"/>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Engineered Vibration Features</a:t>
            </a:r>
          </a:p>
          <a:p>
            <a:pPr algn="ctr"/>
            <a:r>
              <a:rPr lang="en-US" sz="980" dirty="0">
                <a:solidFill>
                  <a:srgbClr val="FFFFFF"/>
                </a:solidFill>
                <a:latin typeface="Calibri"/>
              </a:rPr>
              <a:t>Frequency + statistical features</a:t>
            </a:r>
          </a:p>
        </p:txBody>
      </p:sp>
      <p:sp>
        <p:nvSpPr>
          <p:cNvPr id="107" name="Arrow107"/>
          <p:cNvSpPr txBox="1"/>
          <p:nvPr/>
        </p:nvSpPr>
        <p:spPr>
          <a:xfrm>
            <a:off x="6006000" y="239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08" name="FlowBox108"/>
          <p:cNvSpPr/>
          <p:nvPr/>
        </p:nvSpPr>
        <p:spPr>
          <a:xfrm>
            <a:off x="1596000" y="2480000"/>
            <a:ext cx="9000000" cy="380000"/>
          </a:xfrm>
          <a:prstGeom prst="roundRect">
            <a:avLst>
              <a:gd name="adj" fmla="val 12000"/>
            </a:avLst>
          </a:prstGeom>
          <a:solidFill>
            <a:srgbClr val="065A8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Feature Fusion</a:t>
            </a:r>
          </a:p>
        </p:txBody>
      </p:sp>
      <p:sp>
        <p:nvSpPr>
          <p:cNvPr id="109" name="Arrow109"/>
          <p:cNvSpPr txBox="1"/>
          <p:nvPr/>
        </p:nvSpPr>
        <p:spPr>
          <a:xfrm>
            <a:off x="6006000" y="286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10" name="FlowBox110"/>
          <p:cNvSpPr/>
          <p:nvPr/>
        </p:nvSpPr>
        <p:spPr>
          <a:xfrm>
            <a:off x="1596000" y="2950000"/>
            <a:ext cx="9000000" cy="380000"/>
          </a:xfrm>
          <a:prstGeom prst="roundRect">
            <a:avLst>
              <a:gd name="adj" fmla="val 12000"/>
            </a:avLst>
          </a:prstGeom>
          <a:solidFill>
            <a:srgbClr val="1C7293"/>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1D-CNN Classifier — learns vibration patterns</a:t>
            </a:r>
          </a:p>
        </p:txBody>
      </p:sp>
      <p:sp>
        <p:nvSpPr>
          <p:cNvPr id="111" name="Arrow111"/>
          <p:cNvSpPr txBox="1"/>
          <p:nvPr/>
        </p:nvSpPr>
        <p:spPr>
          <a:xfrm>
            <a:off x="6006000" y="333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12" name="FlowBox112"/>
          <p:cNvSpPr/>
          <p:nvPr/>
        </p:nvSpPr>
        <p:spPr>
          <a:xfrm>
            <a:off x="1596000" y="3420000"/>
            <a:ext cx="9000000" cy="380000"/>
          </a:xfrm>
          <a:prstGeom prst="roundRect">
            <a:avLst>
              <a:gd name="adj" fmla="val 12000"/>
            </a:avLst>
          </a:prstGeom>
          <a:solidFill>
            <a:srgbClr val="6B4C9A"/>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Conformal Prediction Calibration — guaranteed error bound (e.g., ≤5% false positives)</a:t>
            </a:r>
          </a:p>
        </p:txBody>
      </p:sp>
      <p:sp>
        <p:nvSpPr>
          <p:cNvPr id="113" name="Arrow113"/>
          <p:cNvSpPr txBox="1"/>
          <p:nvPr/>
        </p:nvSpPr>
        <p:spPr>
          <a:xfrm>
            <a:off x="6006000" y="380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14" name="FlowBox114"/>
          <p:cNvSpPr/>
          <p:nvPr/>
        </p:nvSpPr>
        <p:spPr>
          <a:xfrm>
            <a:off x="1596000" y="3890000"/>
            <a:ext cx="2866667" cy="400000"/>
          </a:xfrm>
          <a:prstGeom prst="roundRect">
            <a:avLst>
              <a:gd name="adj" fmla="val 12000"/>
            </a:avLst>
          </a:prstGeom>
          <a:solidFill>
            <a:srgbClr val="2E7D3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Healthy</a:t>
            </a:r>
          </a:p>
          <a:p>
            <a:pPr algn="ctr"/>
            <a:r>
              <a:rPr lang="en-US" sz="980" dirty="0">
                <a:solidFill>
                  <a:srgbClr val="FFFFFF"/>
                </a:solidFill>
                <a:latin typeface="Calibri"/>
              </a:rPr>
              <a:t>Class 0</a:t>
            </a:r>
          </a:p>
        </p:txBody>
      </p:sp>
      <p:sp>
        <p:nvSpPr>
          <p:cNvPr id="115" name="FlowBox115"/>
          <p:cNvSpPr/>
          <p:nvPr/>
        </p:nvSpPr>
        <p:spPr>
          <a:xfrm>
            <a:off x="4662667" y="3890000"/>
            <a:ext cx="2866667" cy="400000"/>
          </a:xfrm>
          <a:prstGeom prst="roundRect">
            <a:avLst>
              <a:gd name="adj" fmla="val 12000"/>
            </a:avLst>
          </a:prstGeom>
          <a:solidFill>
            <a:srgbClr val="C77D17"/>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Moderate</a:t>
            </a:r>
          </a:p>
          <a:p>
            <a:pPr algn="ctr"/>
            <a:r>
              <a:rPr lang="en-US" sz="980" dirty="0">
                <a:solidFill>
                  <a:srgbClr val="FFFFFF"/>
                </a:solidFill>
                <a:latin typeface="Calibri"/>
              </a:rPr>
              <a:t>Class 1</a:t>
            </a:r>
          </a:p>
        </p:txBody>
      </p:sp>
      <p:sp>
        <p:nvSpPr>
          <p:cNvPr id="116" name="FlowBox116"/>
          <p:cNvSpPr/>
          <p:nvPr/>
        </p:nvSpPr>
        <p:spPr>
          <a:xfrm>
            <a:off x="7729334" y="3890000"/>
            <a:ext cx="2866667" cy="400000"/>
          </a:xfrm>
          <a:prstGeom prst="roundRect">
            <a:avLst>
              <a:gd name="adj" fmla="val 12000"/>
            </a:avLst>
          </a:prstGeom>
          <a:solidFill>
            <a:srgbClr val="B8504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Severe</a:t>
            </a:r>
          </a:p>
          <a:p>
            <a:pPr algn="ctr"/>
            <a:r>
              <a:rPr lang="en-US" sz="980" dirty="0">
                <a:solidFill>
                  <a:srgbClr val="FFFFFF"/>
                </a:solidFill>
                <a:latin typeface="Calibri"/>
              </a:rPr>
              <a:t>Class 2</a:t>
            </a:r>
          </a:p>
        </p:txBody>
      </p:sp>
      <p:sp>
        <p:nvSpPr>
          <p:cNvPr id="117" name="Arrow117"/>
          <p:cNvSpPr txBox="1"/>
          <p:nvPr/>
        </p:nvSpPr>
        <p:spPr>
          <a:xfrm>
            <a:off x="6006000" y="429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18" name="FlowBox118"/>
          <p:cNvSpPr/>
          <p:nvPr/>
        </p:nvSpPr>
        <p:spPr>
          <a:xfrm>
            <a:off x="1596000" y="4380000"/>
            <a:ext cx="9000000" cy="380000"/>
          </a:xfrm>
          <a:prstGeom prst="roundRect">
            <a:avLst>
              <a:gd name="adj" fmla="val 12000"/>
            </a:avLst>
          </a:prstGeom>
          <a:solidFill>
            <a:srgbClr val="065A8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Health Score</a:t>
            </a:r>
          </a:p>
        </p:txBody>
      </p:sp>
      <p:sp>
        <p:nvSpPr>
          <p:cNvPr id="119" name="Arrow119"/>
          <p:cNvSpPr txBox="1"/>
          <p:nvPr/>
        </p:nvSpPr>
        <p:spPr>
          <a:xfrm>
            <a:off x="6006000" y="476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20" name="FlowBox120"/>
          <p:cNvSpPr/>
          <p:nvPr/>
        </p:nvSpPr>
        <p:spPr>
          <a:xfrm>
            <a:off x="1596000" y="4850000"/>
            <a:ext cx="9000000" cy="380000"/>
          </a:xfrm>
          <a:prstGeom prst="roundRect">
            <a:avLst>
              <a:gd name="adj" fmla="val 12000"/>
            </a:avLst>
          </a:prstGeom>
          <a:solidFill>
            <a:srgbClr val="1C7293"/>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Dashboard</a:t>
            </a:r>
          </a:p>
        </p:txBody>
      </p:sp>
      <p:sp>
        <p:nvSpPr>
          <p:cNvPr id="121" name="Arrow121"/>
          <p:cNvSpPr txBox="1"/>
          <p:nvPr/>
        </p:nvSpPr>
        <p:spPr>
          <a:xfrm>
            <a:off x="6006000" y="523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22" name="FlowBox122"/>
          <p:cNvSpPr/>
          <p:nvPr/>
        </p:nvSpPr>
        <p:spPr>
          <a:xfrm>
            <a:off x="1596000" y="5320000"/>
            <a:ext cx="9000000" cy="420000"/>
          </a:xfrm>
          <a:prstGeom prst="roundRect">
            <a:avLst>
              <a:gd name="adj" fmla="val 12000"/>
            </a:avLst>
          </a:prstGeom>
          <a:solidFill>
            <a:srgbClr val="B8504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Explainable Alert → Maintenance Engineer</a:t>
            </a:r>
          </a:p>
          <a:p>
            <a:pPr algn="ctr"/>
            <a:r>
              <a:rPr lang="en-US" sz="980" dirty="0">
                <a:solidFill>
                  <a:srgbClr val="FFFFFF"/>
                </a:solidFill>
                <a:latin typeface="Calibri"/>
              </a:rPr>
              <a:t>Shows which signals/features drove the alert (saliency-based)</a:t>
            </a:r>
          </a:p>
        </p:txBody>
      </p:sp>
      <p:sp>
        <p:nvSpPr>
          <p:cNvPr id="123" name="Caption123"/>
          <p:cNvSpPr txBox="1"/>
          <p:nvPr/>
        </p:nvSpPr>
        <p:spPr>
          <a:xfrm>
            <a:off x="1596000" y="5850000"/>
            <a:ext cx="9000000" cy="380000"/>
          </a:xfrm>
          <a:prstGeom prst="rect">
            <a:avLst/>
          </a:prstGeom>
          <a:noFill/>
        </p:spPr>
        <p:txBody>
          <a:bodyPr wrap="square" anchor="ctr">
            <a:noAutofit/>
          </a:bodyPr>
          <a:lstStyle/>
          <a:p>
            <a:pPr algn="ctr"/>
            <a:r>
              <a:rPr lang="en-US" sz="1050" i="1" dirty="0">
                <a:solidFill>
                  <a:srgbClr val="595959"/>
                </a:solidFill>
                <a:latin typeface="Times New Roman" panose="02020603050405020304" pitchFamily="18" charset="0"/>
              </a:rPr>
              <a:t>AE trains only on Class 0 (healthy) data; 1D-CNN classifies Class 0/1/2; Conformal Prediction guarantees the alert's error rate.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8883" y="47040"/>
            <a:ext cx="10515600" cy="607384"/>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Proposed work -Explanation </a:t>
            </a:r>
          </a:p>
        </p:txBody>
      </p:sp>
      <p:sp>
        <p:nvSpPr>
          <p:cNvPr id="3" name="Content Placeholder 2"/>
          <p:cNvSpPr>
            <a:spLocks noGrp="1"/>
          </p:cNvSpPr>
          <p:nvPr>
            <p:ph idx="1"/>
          </p:nvPr>
        </p:nvSpPr>
        <p:spPr>
          <a:xfrm>
            <a:off x="629695" y="654424"/>
            <a:ext cx="10929257" cy="6067051"/>
          </a:xfrm>
        </p:spPr>
        <p:txBody>
          <a:bodyPr>
            <a:noAutofit/>
          </a:bodyPr>
          <a:lstStyle/>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Accelerometers on the structure capture vibration data — represented in our project by the Z24 Bridge benchmark, which records structural response under both ambient and forced vibration.</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Raw signals are cleaned and converted into engineered features (frequency-domain and statistical features) that are more meaningful for detecting damage than raw waveforms alone.</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An Autoencoder trained only on Class 0 (healthy) data learns what normal vibration looks like and produces a reconstruction-error anomaly score whenever new data deviates from that learned pattern.</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This anomaly score is combined with the engineered vibration features and passed to a 1D-CNN, which learns local temporal patterns in the vibration signal and predicts the structural condition as Healthy, Moderate, or Severe.</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The 1D-CNN's raw predictions are calibrated using Conformal Prediction, so every alert comes with a formally guaranteed error rate (e.g., at most 5% false positives) instead of an arbitrary confidence number.</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When a Severe alert fires, a saliency-based explanation highlights which specific signals or time segments drove that decision, so engineers see why the system raised the alarm rather than treating it as a black box.</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The predicted condition, health score, and explanation are shown on a live dashboard, and a Severe classification automatically triggers an email/SMS alert to the maintenance team.</a:t>
            </a:r>
          </a:p>
        </p:txBody>
      </p:sp>
      <p:sp>
        <p:nvSpPr>
          <p:cNvPr id="7" name="Slide Number Placeholder 6"/>
          <p:cNvSpPr>
            <a:spLocks noGrp="1"/>
          </p:cNvSpPr>
          <p:nvPr>
            <p:ph type="sldNum" sz="quarter" idx="12"/>
          </p:nvPr>
        </p:nvSpPr>
        <p:spPr/>
        <p:txBody>
          <a:bodyPr/>
          <a:lstStyle/>
          <a:p>
            <a:fld id="{B6D3A235-9A1B-814A-A45F-231E09344964}" type="slidenum">
              <a:rPr lang="en-US" smtClean="0"/>
              <a:t>7</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444" y="180000"/>
            <a:ext cx="10939112" cy="700000"/>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Expected Outcomes &amp; Evaluation Metrics</a:t>
            </a:r>
          </a:p>
        </p:txBody>
      </p:sp>
      <p:sp>
        <p:nvSpPr>
          <p:cNvPr id="3" name="Content Placeholder 2"/>
          <p:cNvSpPr>
            <a:spLocks noGrp="1"/>
          </p:cNvSpPr>
          <p:nvPr>
            <p:ph idx="1"/>
          </p:nvPr>
        </p:nvSpPr>
        <p:spPr>
          <a:xfrm>
            <a:off x="396000" y="1050000"/>
            <a:ext cx="3600000" cy="4300000"/>
          </a:xfrm>
        </p:spPr>
        <p:txBody>
          <a:bodyPr>
            <a:noAutofit/>
          </a:bodyPr>
          <a:lstStyle/>
          <a:p>
            <a:pPr algn="l" marL="0" indent="0">
              <a:spcAft>
                <a:spcPts val="600"/>
              </a:spcAft>
              <a:buNone/>
            </a:pPr>
            <a:r>
              <a:rPr lang="en-US" sz="1800" b="1" dirty="0">
                <a:solidFill>
                  <a:srgbClr val="065A82"/>
                </a:solidFill>
                <a:latin typeface="Times New Roman" panose="02020603050405020304" pitchFamily="18" charset="0"/>
                <a:cs typeface="Times New Roman" panose="02020603050405020304" pitchFamily="18" charset="0"/>
              </a:rPr>
              <a:t>Functional Outcome</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Continuous structural condition monitoring</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Real-time dashboard of sensor/zone health</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Automatic Healthy / Moderate / Severe classification</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Explainable email/SMS alerts for Severe conditions</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Event logging for traceability</a:t>
            </a:r>
          </a:p>
        </p:txBody>
      </p:sp>
      <p:sp>
        <p:nvSpPr>
          <p:cNvPr id="5" name="Slide Number Placeholder 4"/>
          <p:cNvSpPr>
            <a:spLocks noGrp="1"/>
          </p:cNvSpPr>
          <p:nvPr>
            <p:ph type="sldNum" sz="quarter" idx="12"/>
          </p:nvPr>
        </p:nvSpPr>
        <p:spPr/>
        <p:txBody>
          <a:bodyPr/>
          <a:lstStyle/>
          <a:p>
            <a:fld id="{B6D3A235-9A1B-814A-A45F-231E09344964}" type="slidenum">
              <a:rPr lang="en-US" smtClean="0"/>
              <a:t>8</a:t>
            </a:fld>
            <a:endParaRPr lang="en-US"/>
          </a:p>
        </p:txBody>
      </p:sp>
      <p:sp>
        <p:nvSpPr>
          <p:cNvPr id="9" name="Date Placeholder 8"/>
          <p:cNvSpPr>
            <a:spLocks noGrp="1"/>
          </p:cNvSpPr>
          <p:nvPr>
            <p:ph type="dt" sz="half" idx="10"/>
          </p:nvPr>
        </p:nvSpPr>
        <p:spPr/>
        <p:txBody>
          <a:bodyPr/>
          <a:lstStyle/>
          <a:p>
            <a:r>
              <a:rPr lang="en-US"/>
              <a:t>31 August 2026</a:t>
            </a:r>
          </a:p>
        </p:txBody>
      </p:sp>
      <p:sp>
        <p:nvSpPr>
          <p:cNvPr id="50" name="Column50"/>
          <p:cNvSpPr txBox="1"/>
          <p:nvPr/>
        </p:nvSpPr>
        <p:spPr>
          <a:xfrm>
            <a:off x="4296000" y="1050000"/>
            <a:ext cx="3600000" cy="4300000"/>
          </a:xfrm>
          <a:prstGeom prst="rect">
            <a:avLst/>
          </a:prstGeom>
          <a:noFill/>
        </p:spPr>
        <p:txBody>
          <a:bodyPr wrap="square" anchor="t">
            <a:noAutofit/>
          </a:bodyPr>
          <a:lstStyle/>
          <a:p>
            <a:pPr algn="l" marL="0" indent="0">
              <a:spcAft>
                <a:spcPts val="600"/>
              </a:spcAft>
              <a:buNone/>
            </a:pPr>
            <a:r>
              <a:rPr lang="en-US" sz="1800" b="1" dirty="0">
                <a:solidFill>
                  <a:srgbClr val="065A82"/>
                </a:solidFill>
                <a:latin typeface="Times New Roman" panose="02020603050405020304" pitchFamily="18" charset="0"/>
                <a:cs typeface="Times New Roman" panose="02020603050405020304" pitchFamily="18" charset="0"/>
              </a:rPr>
              <a:t>Research Outcome</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Compare Autoencoder-only anomaly detection vs Autoencoder + 1D-CNN classification</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Evaluate the benefit of Conformal Prediction calibration over raw softmax confidence</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Validate on the real Z24 Bridge benchmark (Class 0/1/2 grouped from DC0–DC7)</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Position against heavier hybrid approaches (e.g., Ni, Jin &amp; Hu, 2025 — TCN-GAT-Autoencoder)</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Build an explainable, lightweight AIoT-based SHM pipeline</a:t>
            </a:r>
          </a:p>
        </p:txBody>
      </p:sp>
      <p:sp>
        <p:nvSpPr>
          <p:cNvPr id="51" name="Column51"/>
          <p:cNvSpPr txBox="1"/>
          <p:nvPr/>
        </p:nvSpPr>
        <p:spPr>
          <a:xfrm>
            <a:off x="8196000" y="1050000"/>
            <a:ext cx="3600000" cy="4300000"/>
          </a:xfrm>
          <a:prstGeom prst="rect">
            <a:avLst/>
          </a:prstGeom>
          <a:noFill/>
        </p:spPr>
        <p:txBody>
          <a:bodyPr wrap="square" anchor="t">
            <a:noAutofit/>
          </a:bodyPr>
          <a:lstStyle/>
          <a:p>
            <a:pPr algn="l" marL="0" indent="0">
              <a:spcAft>
                <a:spcPts val="600"/>
              </a:spcAft>
              <a:buNone/>
            </a:pPr>
            <a:r>
              <a:rPr lang="en-US" sz="1800" b="1" dirty="0">
                <a:solidFill>
                  <a:srgbClr val="065A82"/>
                </a:solidFill>
                <a:latin typeface="Times New Roman" panose="02020603050405020304" pitchFamily="18" charset="0"/>
                <a:cs typeface="Times New Roman" panose="02020603050405020304" pitchFamily="18" charset="0"/>
              </a:rPr>
              <a:t>Evaluation Metrics</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Accuracy / F1-score for 3-class classification (Healthy / Moderate / Severe)</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Precision and recall per class</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Empirical coverage vs. target coverage (Conformal Prediction guarantee)</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False-positive rate under calibration</a:t>
            </a:r>
          </a:p>
          <a:p>
            <a:pPr marL="228600" indent="-228600" algn="l">
              <a:spcBef>
                <a:spcPts val="900"/>
              </a:spcBef>
              <a:buFont typeface="Arial" pitchFamily="34" charset="0"/>
              <a:buChar char="•"/>
            </a:pPr>
            <a:r>
              <a:rPr lang="en-US" sz="1400" dirty="0">
                <a:latin typeface="Times New Roman" panose="02020603050405020304" pitchFamily="18" charset="0"/>
                <a:cs typeface="Times New Roman" panose="02020603050405020304" pitchFamily="18" charset="0"/>
              </a:rPr>
              <a:t>Detection latency</a:t>
            </a:r>
          </a:p>
        </p:txBody>
      </p:sp>
      <p:sp>
        <p:nvSpPr>
          <p:cNvPr id="52" name="FinalStatement"/>
          <p:cNvSpPr txBox="1"/>
          <p:nvPr/>
        </p:nvSpPr>
        <p:spPr>
          <a:xfrm>
            <a:off x="626444" y="5550000"/>
            <a:ext cx="10939112" cy="650000"/>
          </a:xfrm>
          <a:prstGeom prst="roundRect">
            <a:avLst/>
          </a:prstGeom>
          <a:solidFill>
            <a:srgbClr val="065A82"/>
          </a:solidFill>
          <a:ln>
            <a:noFill/>
          </a:ln>
        </p:spPr>
        <p:txBody>
          <a:bodyPr wrap="square" anchor="ctr" lIns="182880" rIns="182880">
            <a:normAutofit/>
          </a:bodyPr>
          <a:lstStyle/>
          <a:p>
            <a:pPr algn="ctr"/>
            <a:r>
              <a:rPr lang="en-US" sz="1500" b="1" i="1" dirty="0">
                <a:solidFill>
                  <a:srgbClr val="FFFFFF"/>
                </a:solidFill>
                <a:latin typeface="Times New Roman" panose="02020603050405020304" pitchFamily="18" charset="0"/>
                <a:cs typeface="Times New Roman" panose="02020603050405020304" pitchFamily="18" charset="0"/>
              </a:rPr>
              <a:t>An interpretable hybrid framework where an unsupervised Autoencoder generates a reconstruction-error anomaly score, a 1D-CNN combines it with engineered vibration features to classify structural condition, and Conformal Prediction calibrates every alert with a formally guaranteed error rate.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444" y="324333"/>
            <a:ext cx="10515600" cy="474511"/>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259582" y="820000"/>
            <a:ext cx="11669484" cy="5550000"/>
          </a:xfrm>
        </p:spPr>
        <p:txBody>
          <a:bodyPr>
            <a:noAutofit/>
          </a:bodyPr>
          <a:lstStyle/>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1. H. Deng and J. Chen, “A Survey of Structural Health Monitoring Advances Based on Internet of Things (IoT) Sensors,” International Journal of Advanced Computer Science and Applications, 14(10), 2023.</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2. A. C. Rahita, A. Zaki, G. Nugroho, and S. Yadi, “Internet of Things (IoT) in Structural Health Monitoring: A Decade of Research Trends,” IIETA, 2024.</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3. B. Li, Y. Li, and K. Noman, “Structural Health Monitoring: Advanced Sensing, Diagnostics and Prognostics,” Sensors, 25(5), 2025.</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4. P. Venegas, U. Virto, I. Calvo, and O. Barambones, “An AIoT Architecture for Structural Testing: Application to a Real Aerospace Component,” 2025.</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5. P. Anjali, Y. Rajesh, T. Ramesh, P. Janakiram, and N. Vasu, “Structural Health Monitoring Using IoT,” International Journal of Research Publication and Reviews, 6(11), 2025.</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6. S. Park and S. Kim, “Hybrid CAE–DSVDD for Unsupervised Vibration-Based Damage Detection in In-Situ Steel Truss Bridge,” Structural Health Monitoring, 2025.</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7. A. Dabbous, R. Berta, M. Fresta, H. Ballout, L. Lazzaroni, and F. Bellotti, “Bringing Intelligence to the Edge for Structural Health Monitoring: The Case Study of the Z24 Bridge,” IEEE Open Journal of the Industrial Electronics Society, 5, 2024.</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8. M. Turkomany, A. I. AbdelLatef, and N. Uddin, “A Novel WaveNet Deep Learning Approach for Enhanced Bridge Damage Detection,” Applied Sciences, 15(22), 2025.</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9. Y. Wang, Z. Tang, G. Qian, W. Xu, X. Huang, and H. Fang, “A Prototype of a Lightweight Structural Health Monitoring System Based on Edge Computing,” Sensors, 25(18), 2025.</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10. M. Impraimakis and E. N. Palkanoglou, “A Generative Adversarial Network Optimization Method for Damage Detection and Digital Twinning: Z24 Bridge SHM Benchmark Validation,” Structural and Multidisciplinary Optimization, 2025.</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11. Y. Ni, Q. Jin, and R. Hu, “A Novel Unsupervised Structural Damage Detection Method Based on TCN-GAT Autoencoder,” Sensors, 25(21), 6724, 2025.</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12. A. N. Angelopoulos and S. Bates, “Conformal Prediction: A Gentle Introduction,” Foundations and Trends in Machine Learning, 16(4), 494–591, 2023.</a:t>
            </a:r>
          </a:p>
          <a:p>
            <a:pPr marL="365760" indent="-365760" algn="just">
              <a:lnSpc>
                <a:spcPct val="100000"/>
              </a:lnSpc>
              <a:buNone/>
            </a:pPr>
            <a:r>
              <a:rPr lang="en-US" sz="1300" dirty="0">
                <a:latin typeface="Times New Roman" panose="02020603050405020304" pitchFamily="18" charset="0"/>
                <a:cs typeface="Times New Roman" panose="02020603050405020304" pitchFamily="18" charset="0"/>
              </a:rPr>
              <a:t>13. KU Leuven / EMPA, “Z24 Bridge Structural Health Monitoring Benchmark Dataset,” 1998 (progressive damage test, verified). Official: </a:t>
            </a:r>
            <a:r>
              <a:rPr lang="en-US" sz="1300" u="sng" dirty="0">
                <a:solidFill>
                  <a:srgbClr val="065A82"/>
                </a:solidFill>
                <a:hlinkClick xmlns:r="http://schemas.openxmlformats.org/officeDocument/2006/relationships" r:id="rId3"/>
                <a:latin typeface="Times New Roman" panose="02020603050405020304" pitchFamily="18" charset="0"/>
                <a:cs typeface="Times New Roman" panose="02020603050405020304" pitchFamily="18" charset="0"/>
              </a:rPr>
              <a:t>bwk.kuleuven.be/bwm/z24</a:t>
            </a:r>
            <a:r>
              <a:rPr lang="en-US" sz="1300" dirty="0">
                <a:latin typeface="Times New Roman" panose="02020603050405020304" pitchFamily="18" charset="0"/>
                <a:cs typeface="Times New Roman" panose="02020603050405020304" pitchFamily="18" charset="0"/>
              </a:rPr>
              <a:t>  ·  Ready-to-use processed version: </a:t>
            </a:r>
            <a:r>
              <a:rPr lang="en-US" sz="1300" u="sng" dirty="0">
                <a:solidFill>
                  <a:srgbClr val="065A82"/>
                </a:solidFill>
                <a:hlinkClick xmlns:r="http://schemas.openxmlformats.org/officeDocument/2006/relationships" r:id="rId2"/>
                <a:latin typeface="Times New Roman" panose="02020603050405020304" pitchFamily="18" charset="0"/>
                <a:cs typeface="Times New Roman" panose="02020603050405020304" pitchFamily="18" charset="0"/>
              </a:rPr>
              <a:t>huggingface.co/datasets/thanglexuan/Z24-dataset-processed</a:t>
            </a:r>
            <a:r>
              <a:rPr lang="en-US" sz="1300" dirty="0">
                <a:latin typeface="Times New Roman" panose="02020603050405020304" pitchFamily="18" charset="0"/>
                <a:cs typeface="Times New Roman" panose="02020603050405020304" pitchFamily="18" charset="0"/>
              </a:rPr>
              <a:t>.</a:t>
            </a:r>
          </a:p>
          <a:p>
            <a:pPr marL="0" indent="0" algn="just">
              <a:lnSpc>
                <a:spcPct val="100000"/>
              </a:lnSpc>
              <a:buNone/>
            </a:pPr>
            <a:r>
              <a:rPr lang="en-US" sz="1200" i="1" dirty="0">
                <a:solidFill>
                  <a:srgbClr val="595959"/>
                </a:solidFill>
                <a:latin typeface="Times New Roman" panose="02020603050405020304" pitchFamily="18" charset="0"/>
                <a:cs typeface="Times New Roman" panose="02020603050405020304" pitchFamily="18" charset="0"/>
              </a:rPr>
              <a:t>Note: The selected approach favours a lightweight, interpretable AI technique suitable for a Zeroth-Review prototype; heavier deep-learning models are noted as future work.</a:t>
            </a:r>
          </a:p>
        </p:txBody>
      </p:sp>
      <p:sp>
        <p:nvSpPr>
          <p:cNvPr id="8" name="Slide Number Placeholder 7"/>
          <p:cNvSpPr>
            <a:spLocks noGrp="1"/>
          </p:cNvSpPr>
          <p:nvPr>
            <p:ph type="sldNum" sz="quarter" idx="12"/>
          </p:nvPr>
        </p:nvSpPr>
        <p:spPr/>
        <p:txBody>
          <a:bodyPr/>
          <a:lstStyle/>
          <a:p>
            <a:fld id="{B6D3A235-9A1B-814A-A45F-231E09344964}" type="slidenum">
              <a:rPr lang="en-US" smtClean="0"/>
              <a:t>9</a:t>
            </a:fld>
            <a:endParaRPr lang="en-US"/>
          </a:p>
        </p:txBody>
      </p:sp>
      <p:sp>
        <p:nvSpPr>
          <p:cNvPr id="9" name="Date Placeholder 8"/>
          <p:cNvSpPr>
            <a:spLocks noGrp="1"/>
          </p:cNvSpPr>
          <p:nvPr>
            <p:ph type="dt" sz="half" idx="10"/>
          </p:nvPr>
        </p:nvSpPr>
        <p:spPr/>
        <p:txBody>
          <a:bodyPr/>
          <a:lstStyle/>
          <a:p>
            <a:r>
              <a:rPr lang="en-US"/>
              <a:t>31 August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stretch>
            <a:fillRect/>
          </a:stretch>
        </p:blipFill>
        <p:spPr>
          <a:xfrm>
            <a:off x="3017253" y="3248372"/>
            <a:ext cx="6157494" cy="1505843"/>
          </a:xfrm>
          <a:prstGeom prst="rect">
            <a:avLst/>
          </a:prstGeom>
        </p:spPr>
      </p:pic>
      <p:sp>
        <p:nvSpPr>
          <p:cNvPr id="9" name="Slide Number Placeholder 8"/>
          <p:cNvSpPr>
            <a:spLocks noGrp="1"/>
          </p:cNvSpPr>
          <p:nvPr>
            <p:ph type="sldNum" sz="quarter" idx="12"/>
          </p:nvPr>
        </p:nvSpPr>
        <p:spPr/>
        <p:txBody>
          <a:bodyPr/>
          <a:lstStyle/>
          <a:p>
            <a:fld id="{B6D3A235-9A1B-814A-A45F-231E09344964}" type="slidenum">
              <a:rPr lang="en-US" smtClean="0"/>
              <a:t>10</a:t>
            </a:fld>
            <a:endParaRPr lang="en-US"/>
          </a:p>
        </p:txBody>
      </p:sp>
      <p:sp>
        <p:nvSpPr>
          <p:cNvPr id="10" name="Date Placeholder 9"/>
          <p:cNvSpPr>
            <a:spLocks noGrp="1"/>
          </p:cNvSpPr>
          <p:nvPr>
            <p:ph type="dt" sz="half" idx="10"/>
          </p:nvPr>
        </p:nvSpPr>
        <p:spPr/>
        <p:txBody>
          <a:bodyPr/>
          <a:lstStyle/>
          <a:p>
            <a:r>
              <a:rPr lang="en-US"/>
              <a:t>31 August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nvPr>
        </p:nvGraphicFramePr>
        <p:xfrm>
          <a:off x="314354" y="900000"/>
          <a:ext cx="11559939" cy="4900000"/>
        </p:xfrm>
        <a:graphic>
          <a:graphicData uri="http://schemas.openxmlformats.org/drawingml/2006/table">
            <a:tbl>
              <a:tblPr firstRow="1" bandRow="1">
                <a:tableStyleId>{5C22544A-7EE6-4342-B048-85BDC9FD1C3A}</a:tableStyleId>
              </a:tblPr>
              <a:tblGrid>
                <a:gridCol w="500000"/>
                <a:gridCol w="3200000"/>
                <a:gridCol w="2800000"/>
                <a:gridCol w="2500000"/>
                <a:gridCol w="2559939"/>
              </a:tblGrid>
              <a:tr h="0">
                <a:tc>
                  <a:txBody>
                    <a:bodyPr/>
                    <a:lstStyle/>
                    <a:p>
                      <a:pPr algn="ctr"/>
                      <a:r>
                        <a:rPr lang="en-US" sz="1900" dirty="0">
                          <a:latin typeface="Times New Roman" panose="02020603050405020304" pitchFamily="18" charset="0"/>
                          <a:cs typeface="Times New Roman" panose="02020603050405020304" pitchFamily="18" charset="0"/>
                        </a:rPr>
                        <a:t>S.No</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Paper Name, Journal, Author, Year</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Methodology</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Result (Quantified)</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Problem / Gap Identified</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7.</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“Bringing Intelligence to the Edge for SHM: The Case Study of the Z24 Bridge”</a:t>
                      </a:r>
                    </a:p>
                    <a:p>
                      <a:pPr algn="just">
                        <a:buNone/>
                      </a:pPr>
                      <a:r>
                        <a:rPr lang="en-US" sz="1200" dirty="0">
                          <a:latin typeface="Times New Roman" panose="02020603050405020304" pitchFamily="18" charset="0"/>
                          <a:cs typeface="Times New Roman" panose="02020603050405020304" pitchFamily="18" charset="0"/>
                        </a:rPr>
                        <a:t>IEEE Open J. Ind. Electron. Soc., Dabbous et al., 2024</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Compares WaveNet and MiniRocket CNN feature extractors on the Z24 dataset, on embedded hardware.</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WaveNet: 99.65% accuracy (5-class) and ≈99% (15-class) on Z24 — beats the prior best of 97.5% (Santaniello &amp; Russo, 2023).</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State-of-the-art accuracy needs a deep CNN pipeline; no alerting/dashboard layer.</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8.</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“A Novel WaveNet Deep Learning Approach for Enhanced Bridge Damage Detection”</a:t>
                      </a:r>
                    </a:p>
                    <a:p>
                      <a:pPr algn="just">
                        <a:buNone/>
                      </a:pPr>
                      <a:r>
                        <a:rPr lang="en-US" sz="1200" dirty="0">
                          <a:latin typeface="Times New Roman" panose="02020603050405020304" pitchFamily="18" charset="0"/>
                          <a:cs typeface="Times New Roman" panose="02020603050405020304" pitchFamily="18" charset="0"/>
                        </a:rPr>
                        <a:t>Applied Sciences, Turkomany et al., 2025</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WaveNet model trained on UAV-mounted accelerometer data.</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R² up to 0.98 in predicting damage severity and location from UAV-collected data.</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Relies on UAV flight campaigns, not continuous fixed-sensor monitoring.</a:t>
                      </a:r>
                    </a:p>
                  </a:txBody>
                  <a:tcPr anchor="ctr"/>
                </a:tc>
              </a:tr>
              <a:tr h="1550000">
                <a:tc>
                  <a:txBody>
                    <a:bodyPr/>
                    <a:lstStyle/>
                    <a:p>
                      <a:pPr algn="ctr"/>
                      <a:r>
                        <a:rPr lang="en-US" sz="1200" dirty="0">
                          <a:latin typeface="Times New Roman" panose="02020603050405020304" pitchFamily="18" charset="0"/>
                          <a:cs typeface="Times New Roman" panose="02020603050405020304" pitchFamily="18" charset="0"/>
                        </a:rPr>
                        <a:t>9.</a:t>
                      </a:r>
                    </a:p>
                  </a:txBody>
                  <a:tcPr anchor="ctr"/>
                </a:tc>
                <a:tc>
                  <a:txBody>
                    <a:bodyPr/>
                    <a:lstStyle/>
                    <a:p>
                      <a:pPr algn="just">
                        <a:buNone/>
                      </a:pPr>
                      <a:r>
                        <a:rPr lang="en-US" sz="1200" b="1" dirty="0">
                          <a:latin typeface="Times New Roman" panose="02020603050405020304" pitchFamily="18" charset="0"/>
                          <a:cs typeface="Times New Roman" panose="02020603050405020304" pitchFamily="18" charset="0"/>
                        </a:rPr>
                        <a:t>“A Prototype of a Lightweight SHM System Based on Edge Computing”</a:t>
                      </a:r>
                    </a:p>
                    <a:p>
                      <a:pPr algn="just">
                        <a:buNone/>
                      </a:pPr>
                      <a:r>
                        <a:rPr lang="en-US" sz="1200" dirty="0">
                          <a:latin typeface="Times New Roman" panose="02020603050405020304" pitchFamily="18" charset="0"/>
                          <a:cs typeface="Times New Roman" panose="02020603050405020304" pitchFamily="18" charset="0"/>
                        </a:rPr>
                        <a:t>Sensors, Wang et al., 2025</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Edge-computing SHM prototype using a MobileNetV2 deep-learning classifier and multi-sensor data fusion.</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Validated on a laboratory steel bridge; specific accuracy figures not detailed in the published abstract.</a:t>
                      </a:r>
                    </a:p>
                  </a:txBody>
                  <a:tcPr anchor="ctr"/>
                </a:tc>
                <a:tc>
                  <a:txBody>
                    <a:bodyPr/>
                    <a:lstStyle/>
                    <a:p>
                      <a:pPr algn="just">
                        <a:buNone/>
                      </a:pPr>
                      <a:r>
                        <a:rPr lang="en-US" sz="1200" dirty="0">
                          <a:latin typeface="Times New Roman" panose="02020603050405020304" pitchFamily="18" charset="0"/>
                          <a:cs typeface="Times New Roman" panose="02020603050405020304" pitchFamily="18" charset="0"/>
                        </a:rPr>
                        <a:t>Demonstrated on long-span bridges only; scaling to many nodes untested.</a:t>
                      </a:r>
                    </a:p>
                  </a:txBody>
                  <a:tcPr anchor="ctr"/>
                </a:tc>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nvPr>
        </p:nvGraphicFramePr>
        <p:xfrm>
          <a:off x="314354" y="950000"/>
          <a:ext cx="11559939" cy="4850000"/>
        </p:xfrm>
        <a:graphic>
          <a:graphicData uri="http://schemas.openxmlformats.org/drawingml/2006/table">
            <a:tbl>
              <a:tblPr firstRow="1" bandRow="1">
                <a:tableStyleId>{5C22544A-7EE6-4342-B048-85BDC9FD1C3A}</a:tableStyleId>
              </a:tblPr>
              <a:tblGrid>
                <a:gridCol w="500000"/>
                <a:gridCol w="3200000"/>
                <a:gridCol w="2800000"/>
                <a:gridCol w="2500000"/>
                <a:gridCol w="2559939"/>
              </a:tblGrid>
              <a:tr h="0">
                <a:tc>
                  <a:txBody>
                    <a:bodyPr/>
                    <a:lstStyle/>
                    <a:p>
                      <a:pPr algn="ctr"/>
                      <a:r>
                        <a:rPr lang="en-US" sz="1900" dirty="0">
                          <a:latin typeface="Times New Roman" panose="02020603050405020304" pitchFamily="18" charset="0"/>
                          <a:cs typeface="Times New Roman" panose="02020603050405020304" pitchFamily="18" charset="0"/>
                        </a:rPr>
                        <a:t>S.No</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Paper Name, Journal, Author, Year</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Methodology</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Result (Quantified)</a:t>
                      </a:r>
                    </a:p>
                  </a:txBody>
                  <a:tcPr anchor="ctr"/>
                </a:tc>
                <a:tc>
                  <a:txBody>
                    <a:bodyPr/>
                    <a:lstStyle/>
                    <a:p>
                      <a:pPr algn="ctr"/>
                      <a:r>
                        <a:rPr lang="en-US" sz="1900" dirty="0">
                          <a:latin typeface="Times New Roman" panose="02020603050405020304" pitchFamily="18" charset="0"/>
                          <a:cs typeface="Times New Roman" panose="02020603050405020304" pitchFamily="18" charset="0"/>
                        </a:rPr>
                        <a:t>Problem / Gap Identified</a:t>
                      </a:r>
                    </a:p>
                  </a:txBody>
                  <a:tcPr anchor="ctr"/>
                </a:tc>
              </a:tr>
              <a:tr h="2300000">
                <a:tc>
                  <a:txBody>
                    <a:bodyPr/>
                    <a:lstStyle/>
                    <a:p>
                      <a:pPr algn="ctr"/>
                      <a:r>
                        <a:rPr lang="en-US" sz="1300" dirty="0">
                          <a:latin typeface="Times New Roman" panose="02020603050405020304" pitchFamily="18" charset="0"/>
                          <a:cs typeface="Times New Roman" panose="02020603050405020304" pitchFamily="18" charset="0"/>
                        </a:rPr>
                        <a:t>10.</a:t>
                      </a:r>
                    </a:p>
                  </a:txBody>
                  <a:tcPr anchor="ctr"/>
                </a:tc>
                <a:tc>
                  <a:txBody>
                    <a:bodyPr/>
                    <a:lstStyle/>
                    <a:p>
                      <a:pPr algn="just">
                        <a:buNone/>
                      </a:pPr>
                      <a:r>
                        <a:rPr lang="en-US" sz="1300" b="1" dirty="0">
                          <a:latin typeface="Times New Roman" panose="02020603050405020304" pitchFamily="18" charset="0"/>
                          <a:cs typeface="Times New Roman" panose="02020603050405020304" pitchFamily="18" charset="0"/>
                        </a:rPr>
                        <a:t>“GAN-Based Damage Detection and Digital Twinning: Z24 Bridge Benchmark Validation”</a:t>
                      </a:r>
                    </a:p>
                    <a:p>
                      <a:pPr algn="just">
                        <a:buNone/>
                      </a:pPr>
                      <a:r>
                        <a:rPr lang="en-US" sz="1300" dirty="0">
                          <a:latin typeface="Times New Roman" panose="02020603050405020304" pitchFamily="18" charset="0"/>
                          <a:cs typeface="Times New Roman" panose="02020603050405020304" pitchFamily="18" charset="0"/>
                        </a:rPr>
                        <a:t>Struct. Multidiscip. Optim., Impraimakis &amp; Palkanoglou, 2025</a:t>
                      </a:r>
                    </a:p>
                  </a:txBody>
                  <a:tcPr anchor="ctr"/>
                </a:tc>
                <a:tc>
                  <a:txBody>
                    <a:bodyPr/>
                    <a:lstStyle/>
                    <a:p>
                      <a:pPr algn="just">
                        <a:buNone/>
                      </a:pPr>
                      <a:r>
                        <a:rPr lang="en-US" sz="1300" dirty="0">
                          <a:latin typeface="Times New Roman" panose="02020603050405020304" pitchFamily="18" charset="0"/>
                          <a:cs typeface="Times New Roman" panose="02020603050405020304" pitchFamily="18" charset="0"/>
                        </a:rPr>
                        <a:t>Conditional GAN trained on healthy/damaged Z24 data to generate synthetic vibration signals.</a:t>
                      </a:r>
                    </a:p>
                  </a:txBody>
                  <a:tcPr anchor="ctr"/>
                </a:tc>
                <a:tc>
                  <a:txBody>
                    <a:bodyPr/>
                    <a:lstStyle/>
                    <a:p>
                      <a:pPr algn="just">
                        <a:buNone/>
                      </a:pPr>
                      <a:r>
                        <a:rPr lang="en-US" sz="1300" dirty="0">
                          <a:latin typeface="Times New Roman" panose="02020603050405020304" pitchFamily="18" charset="0"/>
                          <a:cs typeface="Times New Roman" panose="02020603050405020304" pitchFamily="18" charset="0"/>
                        </a:rPr>
                        <a:t>Rigorously validated on Z24; reports qualitative gains over prior digital-twin methods, no single headline accuracy stated.</a:t>
                      </a:r>
                    </a:p>
                  </a:txBody>
                  <a:tcPr anchor="ctr"/>
                </a:tc>
                <a:tc>
                  <a:txBody>
                    <a:bodyPr/>
                    <a:lstStyle/>
                    <a:p>
                      <a:pPr algn="just">
                        <a:buNone/>
                      </a:pPr>
                      <a:r>
                        <a:rPr lang="en-US" sz="1300" dirty="0">
                          <a:latin typeface="Times New Roman" panose="02020603050405020304" pitchFamily="18" charset="0"/>
                          <a:cs typeface="Times New Roman" panose="02020603050405020304" pitchFamily="18" charset="0"/>
                        </a:rPr>
                        <a:t>GAN training is more complex and less interpretable than a simple threshold rule.</a:t>
                      </a:r>
                    </a:p>
                  </a:txBody>
                  <a:tcPr anchor="ctr"/>
                </a:tc>
              </a:tr>
              <a:tr h="2300000">
                <a:tc>
                  <a:txBody>
                    <a:bodyPr/>
                    <a:lstStyle/>
                    <a:p>
                      <a:pPr algn="ctr"/>
                      <a:r>
                        <a:rPr lang="en-US" sz="1300" dirty="0">
                          <a:latin typeface="Times New Roman" panose="02020603050405020304" pitchFamily="18" charset="0"/>
                          <a:cs typeface="Times New Roman" panose="02020603050405020304" pitchFamily="18" charset="0"/>
                        </a:rPr>
                        <a:t>11.</a:t>
                      </a:r>
                    </a:p>
                  </a:txBody>
                  <a:tcPr anchor="ctr"/>
                </a:tc>
                <a:tc>
                  <a:txBody>
                    <a:bodyPr/>
                    <a:lstStyle/>
                    <a:p>
                      <a:pPr algn="just">
                        <a:buNone/>
                      </a:pPr>
                      <a:r>
                        <a:rPr lang="en-US" sz="1300" b="1" dirty="0">
                          <a:latin typeface="Times New Roman" panose="02020603050405020304" pitchFamily="18" charset="0"/>
                          <a:cs typeface="Times New Roman" panose="02020603050405020304" pitchFamily="18" charset="0"/>
                        </a:rPr>
                        <a:t>“A Novel Unsupervised Structural Damage Detection Method Based on TCN-GAT Autoencoder”</a:t>
                      </a:r>
                    </a:p>
                    <a:p>
                      <a:pPr algn="just">
                        <a:buNone/>
                      </a:pPr>
                      <a:r>
                        <a:rPr lang="en-US" sz="1300" dirty="0">
                          <a:latin typeface="Times New Roman" panose="02020603050405020304" pitchFamily="18" charset="0"/>
                          <a:cs typeface="Times New Roman" panose="02020603050405020304" pitchFamily="18" charset="0"/>
                        </a:rPr>
                        <a:t>Sensors, Ni, Jin &amp; Hu, 2025</a:t>
                      </a:r>
                    </a:p>
                  </a:txBody>
                  <a:tcPr anchor="ctr"/>
                </a:tc>
                <a:tc>
                  <a:txBody>
                    <a:bodyPr/>
                    <a:lstStyle/>
                    <a:p>
                      <a:pPr algn="just">
                        <a:buNone/>
                      </a:pPr>
                      <a:r>
                        <a:rPr lang="en-US" sz="1300" dirty="0">
                          <a:latin typeface="Times New Roman" panose="02020603050405020304" pitchFamily="18" charset="0"/>
                          <a:cs typeface="Times New Roman" panose="02020603050405020304" pitchFamily="18" charset="0"/>
                        </a:rPr>
                        <a:t>Fuses a Temporal Convolutional Network and a Graph Attention Network inside an Autoencoder (TCNGAT-AE), trained only on healthy data.</a:t>
                      </a:r>
                    </a:p>
                  </a:txBody>
                  <a:tcPr anchor="ctr"/>
                </a:tc>
                <a:tc>
                  <a:txBody>
                    <a:bodyPr/>
                    <a:lstStyle/>
                    <a:p>
                      <a:pPr algn="just">
                        <a:buNone/>
                      </a:pPr>
                      <a:r>
                        <a:rPr lang="en-US" sz="1300" dirty="0">
                          <a:latin typeface="Times New Roman" panose="02020603050405020304" pitchFamily="18" charset="0"/>
                          <a:cs typeface="Times New Roman" panose="02020603050405020304" pitchFamily="18" charset="0"/>
                        </a:rPr>
                        <a:t>Effective damage detection demonstrated on both Z24 Bridge and Old Ada Bridge; no single headline accuracy % stated in the abstract.</a:t>
                      </a:r>
                    </a:p>
                  </a:txBody>
                  <a:tcPr anchor="ctr"/>
                </a:tc>
                <a:tc>
                  <a:txBody>
                    <a:bodyPr/>
                    <a:lstStyle/>
                    <a:p>
                      <a:pPr algn="just">
                        <a:buNone/>
                      </a:pPr>
                      <a:r>
                        <a:rPr lang="en-US" sz="1300" dirty="0">
                          <a:latin typeface="Times New Roman" panose="02020603050405020304" pitchFamily="18" charset="0"/>
                          <a:cs typeface="Times New Roman" panose="02020603050405020304" pitchFamily="18" charset="0"/>
                        </a:rPr>
                        <a:t>Pairs AE with two extra deep-learning modules (TCN+GAT) — heavier and less interpretable than a single lightweight classifier.</a:t>
                      </a:r>
                    </a:p>
                  </a:txBody>
                  <a:tcPr anchor="ctr"/>
                </a:tc>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Problem Statement</a:t>
            </a:r>
            <a:r>
              <a:rPr lang="en-US" dirty="0"/>
              <a:t> </a:t>
            </a:r>
            <a:endParaRPr lang="en-IN" dirty="0"/>
          </a:p>
        </p:txBody>
      </p:sp>
      <p:sp>
        <p:nvSpPr>
          <p:cNvPr id="3" name="Content Placeholder 2"/>
          <p:cNvSpPr>
            <a:spLocks noGrp="1"/>
          </p:cNvSpPr>
          <p:nvPr>
            <p:ph idx="1"/>
          </p:nvPr>
        </p:nvSpPr>
        <p:spPr>
          <a:xfrm>
            <a:off x="217715" y="828169"/>
            <a:ext cx="11713028" cy="5710743"/>
          </a:xfrm>
        </p:spPr>
        <p:txBody>
          <a:bodyPr>
            <a:noAutofit/>
          </a:bodyPr>
          <a:lstStyle/>
          <a:p>
            <a:pPr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Structural damage in bridges and buildings often develops slowly and silently, hidden inside materials that look fine from the outside. If left undetected, it can worsen over time and lead to costly repairs, structural failure, or even loss of life.</a:t>
            </a:r>
          </a:p>
          <a:p>
            <a:pPr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Traditional inspection relies on periodic manual visits by engineers, which are expensive, infrequent, and depend heavily on human judgement. This means early-stage damage occurring between inspection cycles can easily go unnoticed until it becomes severe.</a:t>
            </a:r>
          </a:p>
          <a:p>
            <a:pPr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There is a clear need for a continuous, automated way to monitor structural health in real time. This project addresses that need using low-cost IoT sensors combined with AI-based anomaly detection.</a:t>
            </a:r>
          </a:p>
          <a:p>
            <a:pPr algn="l">
              <a:buNone/>
            </a:pPr>
            <a:r>
              <a:rPr lang="en-US" sz="2100" b="1" dirty="0">
                <a:solidFill>
                  <a:srgbClr val="065A82"/>
                </a:solidFill>
                <a:latin typeface="Times New Roman" panose="02020603050405020304" pitchFamily="18" charset="0"/>
                <a:cs typeface="Times New Roman" panose="02020603050405020304" pitchFamily="18" charset="0"/>
              </a:rPr>
              <a:t>What We Are Doing</a:t>
            </a:r>
          </a:p>
          <a:p>
            <a:pPr algn="just">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Using accelerometer data from the real Z24 Bridge dataset to study structural vibration.</a:t>
            </a:r>
          </a:p>
          <a:p>
            <a:pPr algn="just">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Training an Autoencoder to learn normal vibration behaviour and flag unusual readings.</a:t>
            </a:r>
          </a:p>
          <a:p>
            <a:pPr algn="just">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Using a 1D-CNN model, calibrated with Conformal Prediction, to classify structural condition as Healthy, Moderate, or Severe.</a:t>
            </a:r>
          </a:p>
          <a:p>
            <a:pPr algn="just">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Showing results on a dashboard and sending alerts for critical conditions.</a:t>
            </a:r>
          </a:p>
        </p:txBody>
      </p:sp>
      <p:sp>
        <p:nvSpPr>
          <p:cNvPr id="7" name="Slide Number Placeholder 6"/>
          <p:cNvSpPr>
            <a:spLocks noGrp="1"/>
          </p:cNvSpPr>
          <p:nvPr>
            <p:ph type="sldNum" sz="quarter" idx="12"/>
          </p:nvPr>
        </p:nvSpPr>
        <p:spPr/>
        <p:txBody>
          <a:bodyPr/>
          <a:lstStyle/>
          <a:p>
            <a:fld id="{B6D3A235-9A1B-814A-A45F-231E09344964}" type="slidenum">
              <a:rPr lang="en-US" smtClean="0"/>
              <a:t>3</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Objective</a:t>
            </a:r>
            <a:r>
              <a:rPr lang="en-US" dirty="0"/>
              <a:t> </a:t>
            </a:r>
            <a:endParaRPr lang="en-IN" dirty="0"/>
          </a:p>
        </p:txBody>
      </p:sp>
      <p:sp>
        <p:nvSpPr>
          <p:cNvPr id="3" name="Content Placeholder 2"/>
          <p:cNvSpPr>
            <a:spLocks noGrp="1"/>
          </p:cNvSpPr>
          <p:nvPr>
            <p:ph idx="1"/>
          </p:nvPr>
        </p:nvSpPr>
        <p:spPr>
          <a:xfrm>
            <a:off x="217715" y="828169"/>
            <a:ext cx="11713028" cy="5710743"/>
          </a:xfrm>
        </p:spPr>
        <p:txBody>
          <a:bodyPr>
            <a:noAutofit/>
          </a:bodyPr>
          <a:lstStyle/>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To design a lightweight IoT sensing and data pipeline for structural vibration monitoring, using accelerometer data from the real Z24 Bridge benchmark dataset. This keeps the sensing layer realistic and grounded in verified structural data rather than assumptions.</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To develop an unsupervised Autoencoder that learns normal (healthy) structural vibration behaviour from Z24's undamaged-state data and produces a reconstruction-error-based anomaly score. This avoids the need for large amounts of labelled damage data, which is hard to collect in practice.</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To develop a 1D Convolutional Neural Network (1D-CNN) that learns vibration patterns directly from sensor signals, combined with the Autoencoder's anomaly score, to classify structural condition as Healthy, Moderate, or Severe. A 1D-CNN is chosen because it is well suited to time-series vibration data and lighter to train than sequence models such as TCN or Transformer.</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To calibrate the 1D-CNN's predictions using Conformal Prediction, producing structural-condition alerts with a formally guaranteed error rate (e.g., at most 5% false positives) rather than an uncalibrated confidence score. This adds a statistically rigorous safety layer that most reviewed SHM literature does not include.</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To build a real-time, explainable dashboard and alert system that shows which signals drove each classification (via saliency/Grad-CAM-style visualisation) and automatically notifies maintenance engineers by email/SMS for critical conditions. This ensures detected issues translate into timely, trustworthy action rather than staying buried in raw data.</a:t>
            </a:r>
          </a:p>
          <a:p>
            <a:pPr algn="just">
              <a:buFont typeface="Wingdings" panose="05000000000000000000" pitchFamily="2" charset="2"/>
              <a:buChar char="§"/>
            </a:pPr>
            <a:r>
              <a:rPr lang="en-US" sz="1750" dirty="0">
                <a:latin typeface="Times New Roman" panose="02020603050405020304" pitchFamily="18" charset="0"/>
                <a:cs typeface="Times New Roman" panose="02020603050405020304" pitchFamily="18" charset="0"/>
              </a:rPr>
              <a:t>To evaluate the full Autoencoder + 1D-CNN + Conformal Prediction framework using accuracy, precision, recall, F1-score, false-positive rate, and empirical coverage on the Z24 Bridge dataset. This provides a measurable, defensible basis for comparing the approach against existing SHM techniques.</a:t>
            </a:r>
          </a:p>
        </p:txBody>
      </p:sp>
      <p:sp>
        <p:nvSpPr>
          <p:cNvPr id="7" name="Slide Number Placeholder 6"/>
          <p:cNvSpPr>
            <a:spLocks noGrp="1"/>
          </p:cNvSpPr>
          <p:nvPr>
            <p:ph type="sldNum" sz="quarter" idx="12"/>
          </p:nvPr>
        </p:nvSpPr>
        <p:spPr/>
        <p:txBody>
          <a:bodyPr/>
          <a:lstStyle/>
          <a:p>
            <a:fld id="{B6D3A235-9A1B-814A-A45F-231E09344964}" type="slidenum">
              <a:rPr lang="en-US" smtClean="0"/>
              <a:t>3</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 Gaps</a:t>
            </a:r>
            <a:r>
              <a:rPr lang="en-US" dirty="0"/>
              <a:t> </a:t>
            </a:r>
            <a:endParaRPr lang="en-IN" dirty="0"/>
          </a:p>
        </p:txBody>
      </p:sp>
      <p:sp>
        <p:nvSpPr>
          <p:cNvPr id="3" name="Content Placeholder 2"/>
          <p:cNvSpPr>
            <a:spLocks noGrp="1"/>
          </p:cNvSpPr>
          <p:nvPr>
            <p:ph idx="1"/>
          </p:nvPr>
        </p:nvSpPr>
        <p:spPr>
          <a:xfrm>
            <a:off x="217715" y="828169"/>
            <a:ext cx="11713028" cy="5710743"/>
          </a:xfrm>
        </p:spPr>
        <p:txBody>
          <a:bodyPr>
            <a:noAutofit/>
          </a:bodyPr>
          <a:lstStyle/>
          <a:p>
            <a:pPr algn="just">
              <a:buFont typeface="Wingdings" panose="05000000000000000000" pitchFamily="2" charset="2"/>
              <a:buChar char="§"/>
            </a:pPr>
            <a:r>
              <a:rPr lang="en-US" sz="1650" dirty="0">
                <a:latin typeface="Times New Roman" panose="02020603050405020304" pitchFamily="18" charset="0"/>
                <a:cs typeface="Times New Roman" panose="02020603050405020304" pitchFamily="18" charset="0"/>
              </a:rPr>
              <a:t>Most existing works are either broad literature surveys (Deng &amp; Chen, 2023; Rahita et al., 2024; Li et al., 2025) or narrowly focused technique papers, and few combine a full sensor-to-alert pipeline in one system.</a:t>
            </a:r>
          </a:p>
          <a:p>
            <a:pPr algn="just">
              <a:buFont typeface="Wingdings" panose="05000000000000000000" pitchFamily="2" charset="2"/>
              <a:buChar char="§"/>
            </a:pPr>
            <a:r>
              <a:rPr lang="en-US" sz="1650" dirty="0">
                <a:latin typeface="Times New Roman" panose="02020603050405020304" pitchFamily="18" charset="0"/>
                <a:cs typeface="Times New Roman" panose="02020603050405020304" pitchFamily="18" charset="0"/>
              </a:rPr>
              <a:t>The strongest deep-learning results (Park &amp; Kim — 98.46% F1; Dabbous et al. — 99.65% accuracy; Turkomany et al. — R² up to 0.98) all come from heavy models — CNNs, WaveNet, and autoencoder-SVDD combinations — that need GPUs or specialised hardware a lightweight prototype cannot assume.</a:t>
            </a:r>
          </a:p>
          <a:p>
            <a:pPr algn="just">
              <a:buFont typeface="Wingdings" panose="05000000000000000000" pitchFamily="2" charset="2"/>
              <a:buChar char="§"/>
            </a:pPr>
            <a:r>
              <a:rPr lang="en-US" sz="1650" dirty="0">
                <a:latin typeface="Times New Roman" panose="02020603050405020304" pitchFamily="18" charset="0"/>
                <a:cs typeface="Times New Roman" panose="02020603050405020304" pitchFamily="18" charset="0"/>
              </a:rPr>
              <a:t>Even the most recent hybrid Autoencoder work (Ni, Jin &amp; Hu, 2025) pairs the Autoencoder with two more deep-learning modules (a Temporal Convolutional Network and a Graph Attention Network), making the model heavier and harder to interpret rather than lighter — the field's hybrid trend is moving toward more complexity, not less.</a:t>
            </a:r>
          </a:p>
          <a:p>
            <a:pPr algn="just">
              <a:buFont typeface="Wingdings" panose="05000000000000000000" pitchFamily="2" charset="2"/>
              <a:buChar char="§"/>
            </a:pPr>
            <a:r>
              <a:rPr lang="en-US" sz="1650" dirty="0">
                <a:latin typeface="Times New Roman" panose="02020603050405020304" pitchFamily="18" charset="0"/>
                <a:cs typeface="Times New Roman" panose="02020603050405020304" pitchFamily="18" charset="0"/>
              </a:rPr>
              <a:t>None of the reviewed papers report a formally calibrated error rate on their alerts — they report accuracy or F1-score on a test set, which is not the same as a guaranteed bound on how often a live alert will be wrong. Our proposed Conformal Prediction layer directly addresses this gap.</a:t>
            </a:r>
          </a:p>
          <a:p>
            <a:pPr algn="just">
              <a:buFont typeface="Wingdings" panose="05000000000000000000" pitchFamily="2" charset="2"/>
              <a:buChar char="§"/>
            </a:pPr>
            <a:r>
              <a:rPr lang="en-US" sz="1650" dirty="0">
                <a:latin typeface="Times New Roman" panose="02020603050405020304" pitchFamily="18" charset="0"/>
                <a:cs typeface="Times New Roman" panose="02020603050405020304" pitchFamily="18" charset="0"/>
              </a:rPr>
              <a:t>Very few studies connect a lightweight second model to the Autoencoder's output, or link detection directly to an explainable, automatic alert and dashboard system. Our proposed Autoencoder + 1D-CNN framework, calibrated with Conformal Prediction and paired with saliency-based explainability, closes this gap with a fast, trustworthy, and interpretable pipeline.</a:t>
            </a:r>
          </a:p>
        </p:txBody>
      </p:sp>
      <p:sp>
        <p:nvSpPr>
          <p:cNvPr id="7" name="Slide Number Placeholder 6"/>
          <p:cNvSpPr>
            <a:spLocks noGrp="1"/>
          </p:cNvSpPr>
          <p:nvPr>
            <p:ph type="sldNum" sz="quarter" idx="12"/>
          </p:nvPr>
        </p:nvSpPr>
        <p:spPr/>
        <p:txBody>
          <a:bodyPr/>
          <a:lstStyle/>
          <a:p>
            <a:fld id="{B6D3A235-9A1B-814A-A45F-231E09344964}" type="slidenum">
              <a:rPr lang="en-US" smtClean="0"/>
              <a:t>3</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Dataset</a:t>
            </a:r>
            <a:r>
              <a:rPr lang="en-US" dirty="0"/>
              <a:t> </a:t>
            </a:r>
            <a:endParaRPr lang="en-IN" dirty="0"/>
          </a:p>
        </p:txBody>
      </p:sp>
      <p:sp>
        <p:nvSpPr>
          <p:cNvPr id="3" name="Content Placeholder 2"/>
          <p:cNvSpPr>
            <a:spLocks noGrp="1"/>
          </p:cNvSpPr>
          <p:nvPr>
            <p:ph idx="1"/>
          </p:nvPr>
        </p:nvSpPr>
        <p:spPr>
          <a:xfrm>
            <a:off x="217715" y="828169"/>
            <a:ext cx="11713028" cy="5710743"/>
          </a:xfrm>
        </p:spPr>
        <p:txBody>
          <a:bodyPr>
            <a:noAutofit/>
          </a:bodyPr>
          <a:lstStyle/>
          <a:p>
            <a:pPr algn="just">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We use the Z24 Bridge Structural Health Monitoring Benchmark Dataset — a real, publicly documented dataset from an actual prestressed concrete bridge in Switzerland, monitored before its planned demolition in 1998. This grounds our validation in genuine structural behaviour, not synthetic data.</a:t>
            </a:r>
          </a:p>
          <a:p>
            <a:pPr algn="just">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The benchmark documents 17 progressive damage scenarios (damage classes DC0–DC7, per Krämmer, de Smet &amp; De Roeck, 1999 and Maeck &amp; De Roeck, 2003), moving from a healthy reference state through increasingly severe structural damage.</a:t>
            </a:r>
          </a:p>
          <a:p>
            <a:pPr algn="just">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We group these into three condition classes — Class 0: Healthy (DC0, undamaged reference); Class 1: Moderate (DC1–DC4: pier settlement, foundation tilt, concrete spalling); Class 2: Severe (DC5–DC7: concrete hinge failure, anchor head failure, tendon rupture).</a:t>
            </a:r>
          </a:p>
          <a:p>
            <a:pPr algn="just">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Vibration data was collected using a dense accelerometer network (up to 291 sensors in the full progressive damage test), capturing structural response under both ambient and forced vibration.</a:t>
            </a:r>
          </a:p>
          <a:p>
            <a:pPr algn="just">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The Autoencoder is trained only on Class 0 (healthy) data to learn normal vibration behaviour; all three classes are then used to train and evaluate the 1D-CNN classifier, whose predictions are further calibrated using Conformal Prediction.</a:t>
            </a:r>
          </a:p>
          <a:p>
            <a:pPr algn="just">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Official dataset source (request access): </a:t>
            </a:r>
            <a:r>
              <a:rPr lang="en-US" sz="1700" u="sng" dirty="0">
                <a:solidFill>
                  <a:srgbClr val="065A82"/>
                </a:solidFill>
                <a:hlinkClick xmlns:r="http://schemas.openxmlformats.org/officeDocument/2006/relationships" r:id="rId2"/>
                <a:latin typeface="Times New Roman" panose="02020603050405020304" pitchFamily="18" charset="0"/>
                <a:cs typeface="Times New Roman" panose="02020603050405020304" pitchFamily="18" charset="0"/>
              </a:rPr>
              <a:t>bwk.kuleuven.be/bwm/z24</a:t>
            </a:r>
          </a:p>
          <a:p>
            <a:pPr algn="just">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Ready-to-use processed dataset (verified, open access): </a:t>
            </a:r>
            <a:r>
              <a:rPr lang="en-US" sz="1700" u="sng" dirty="0">
                <a:solidFill>
                  <a:srgbClr val="065A82"/>
                </a:solidFill>
                <a:hlinkClick xmlns:r="http://schemas.openxmlformats.org/officeDocument/2006/relationships" r:id="rId3"/>
                <a:latin typeface="Times New Roman" panose="02020603050405020304" pitchFamily="18" charset="0"/>
                <a:cs typeface="Times New Roman" panose="02020603050405020304" pitchFamily="18" charset="0"/>
              </a:rPr>
              <a:t>huggingface.co/datasets/thanglexuan/Z24-dataset-processed</a:t>
            </a:r>
          </a:p>
        </p:txBody>
      </p:sp>
      <p:sp>
        <p:nvSpPr>
          <p:cNvPr id="7" name="Slide Number Placeholder 6"/>
          <p:cNvSpPr>
            <a:spLocks noGrp="1"/>
          </p:cNvSpPr>
          <p:nvPr>
            <p:ph type="sldNum" sz="quarter" idx="12"/>
          </p:nvPr>
        </p:nvSpPr>
        <p:spPr/>
        <p:txBody>
          <a:bodyPr/>
          <a:lstStyle/>
          <a:p>
            <a:fld id="{B6D3A235-9A1B-814A-A45F-231E09344964}" type="slidenum">
              <a:rPr lang="en-US" smtClean="0"/>
              <a:t>3</a:t>
            </a:fld>
            <a:endParaRPr lang="en-US"/>
          </a:p>
        </p:txBody>
      </p:sp>
      <p:sp>
        <p:nvSpPr>
          <p:cNvPr id="8" name="Date Placeholder 7"/>
          <p:cNvSpPr>
            <a:spLocks noGrp="1"/>
          </p:cNvSpPr>
          <p:nvPr>
            <p:ph type="dt" sz="half" idx="10"/>
          </p:nvPr>
        </p:nvSpPr>
        <p:spPr/>
        <p:txBody>
          <a:bodyPr/>
          <a:lstStyle/>
          <a:p>
            <a:r>
              <a:rPr lang="en-US"/>
              <a:t>31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107</Words>
  <Application>Microsoft Office PowerPoint</Application>
  <PresentationFormat>Widescreen</PresentationFormat>
  <Paragraphs>50</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ElsevierSans</vt:lpstr>
      <vt:lpstr>Times New Roman</vt:lpstr>
      <vt:lpstr>Wingdings</vt:lpstr>
      <vt:lpstr>Office Theme</vt:lpstr>
      <vt:lpstr>Titlle</vt:lpstr>
      <vt:lpstr>Abstract </vt:lpstr>
      <vt:lpstr>Introduction </vt:lpstr>
      <vt:lpstr>PowerPoint Presentation</vt:lpstr>
      <vt:lpstr>Literature Review </vt:lpstr>
      <vt:lpstr>PowerPoint Presentation</vt:lpstr>
      <vt:lpstr>Proposed work -Explanation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proposed work</dc:title>
  <dc:creator>mani iz</dc:creator>
  <cp:lastModifiedBy>Saravanan P</cp:lastModifiedBy>
  <cp:revision>300</cp:revision>
  <dcterms:created xsi:type="dcterms:W3CDTF">2022-09-13T08:56:00Z</dcterms:created>
  <dcterms:modified xsi:type="dcterms:W3CDTF">2026-08-07T04:42:22Z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D08F9FAA6B7E4AE58517ED9850002E9F_12</vt:lpwstr>
  </property>
  <property fmtid="{D5CDD505-2E9C-101B-9397-08002B2CF9AE}" pid="3" name="KSOProductBuildVer">
    <vt:lpwstr>1033-12.1.0.27458</vt:lpwstr>
  </property>
</Properties>
</file>